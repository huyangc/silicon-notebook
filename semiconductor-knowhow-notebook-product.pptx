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1" d="100"/>
          <a:sy n="121" d="100"/>
        </p:scale>
        <p:origin x="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395C0C0E-17F0-4631-83F8-D9235706A4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EB9AB7-2B3A-4A39-8E6E-D8E4CA480A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13D798-E270-4053-8E71-D839FA49029F}"/>
              </a:ext>
            </a:extLst>
          </p:cNvPr>
          <p:cNvSpPr>
            <a:spLocks noGrp="1"/>
          </p:cNvSpPr>
          <p:nvPr/>
        </p:nvSpPr>
        <p:spPr>
          <a:xfrm>
            <a:off x="8172450" y="0"/>
            <a:ext cx="4019550" cy="6858000"/>
          </a:xfrm>
          <a:prstGeom prst="rect">
            <a:avLst/>
          </a:prstGeom>
          <a:solidFill>
            <a:srgbClr val="1C29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A4826C-5DAB-4C77-9B71-67657025032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295400" cy="5715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A780C4-2299-4203-90BC-46A1C1531194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5905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半导体 Knowhow</a:t>
            </a:r>
          </a:p>
          <a:p>
            <a:pPr algn="l">
              <a:def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Notebook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56BA32-716F-4090-8308-169801556A23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6191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面向半导体研发团队的用户自建 knowhow notebook 平台，把历史文档、案例、规则和新文章沉淀成可查询、可引用、可审核、可推演的工程知识系统。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A4DA90-A1BA-443D-BC10-D31C6954A425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产品闭环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6E96F0-90AA-48E9-99FB-B7D0D607CB38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1104900" cy="285750"/>
          </a:xfrm>
          <a:prstGeom prst="rect">
            <a:avLst/>
          </a:prstGeom>
          <a:solidFill>
            <a:srgbClr val="263540"/>
          </a:solidFill>
          <a:ln w="9525">
            <a:solidFill>
              <a:srgbClr val="DC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8A2613-E97A-4EC6-9884-C03102CEC37D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历史文档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15109E-DCB4-48DB-AE9A-169535747F9A}"/>
              </a:ext>
            </a:extLst>
          </p:cNvPr>
          <p:cNvSpPr>
            <a:spLocks noGrp="1"/>
          </p:cNvSpPr>
          <p:nvPr/>
        </p:nvSpPr>
        <p:spPr>
          <a:xfrm>
            <a:off x="2000250" y="4505325"/>
            <a:ext cx="209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C688AE-4803-4DC9-98A8-433AA09816BF}"/>
              </a:ext>
            </a:extLst>
          </p:cNvPr>
          <p:cNvSpPr>
            <a:spLocks noGrp="1"/>
          </p:cNvSpPr>
          <p:nvPr/>
        </p:nvSpPr>
        <p:spPr>
          <a:xfrm>
            <a:off x="2324100" y="4495800"/>
            <a:ext cx="1447800" cy="285750"/>
          </a:xfrm>
          <a:prstGeom prst="rect">
            <a:avLst/>
          </a:prstGeom>
          <a:solidFill>
            <a:srgbClr val="263540"/>
          </a:solidFill>
          <a:ln w="9525">
            <a:solidFill>
              <a:srgbClr val="DC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18B620-2137-4D0B-87C8-B6629DBD44BD}"/>
              </a:ext>
            </a:extLst>
          </p:cNvPr>
          <p:cNvSpPr>
            <a:spLocks noGrp="1"/>
          </p:cNvSpPr>
          <p:nvPr/>
        </p:nvSpPr>
        <p:spPr>
          <a:xfrm>
            <a:off x="2419350" y="455295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结构化 Knowhow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EF728E-9FD6-4FF7-A967-61D6A3BB8CB3}"/>
              </a:ext>
            </a:extLst>
          </p:cNvPr>
          <p:cNvSpPr>
            <a:spLocks noGrp="1"/>
          </p:cNvSpPr>
          <p:nvPr/>
        </p:nvSpPr>
        <p:spPr>
          <a:xfrm>
            <a:off x="3905250" y="4505325"/>
            <a:ext cx="209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CA216E-6EE1-4536-A422-E492FEAEB192}"/>
              </a:ext>
            </a:extLst>
          </p:cNvPr>
          <p:cNvSpPr>
            <a:spLocks noGrp="1"/>
          </p:cNvSpPr>
          <p:nvPr/>
        </p:nvSpPr>
        <p:spPr>
          <a:xfrm>
            <a:off x="4229100" y="4495800"/>
            <a:ext cx="1219200" cy="285750"/>
          </a:xfrm>
          <a:prstGeom prst="rect">
            <a:avLst/>
          </a:prstGeom>
          <a:solidFill>
            <a:srgbClr val="263540"/>
          </a:solidFill>
          <a:ln w="9525">
            <a:solidFill>
              <a:srgbClr val="DC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BE8D7C-4F47-41C6-BBAA-0E41B2C21715}"/>
              </a:ext>
            </a:extLst>
          </p:cNvPr>
          <p:cNvSpPr>
            <a:spLocks noGrp="1"/>
          </p:cNvSpPr>
          <p:nvPr/>
        </p:nvSpPr>
        <p:spPr>
          <a:xfrm>
            <a:off x="4324350" y="4552950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场景化问答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300543-FD61-4797-BE46-71B7E9D381F9}"/>
              </a:ext>
            </a:extLst>
          </p:cNvPr>
          <p:cNvSpPr>
            <a:spLocks noGrp="1"/>
          </p:cNvSpPr>
          <p:nvPr/>
        </p:nvSpPr>
        <p:spPr>
          <a:xfrm>
            <a:off x="5581650" y="4505325"/>
            <a:ext cx="209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73C0C1-3D23-425E-A3DF-29767FEA75E9}"/>
              </a:ext>
            </a:extLst>
          </p:cNvPr>
          <p:cNvSpPr>
            <a:spLocks noGrp="1"/>
          </p:cNvSpPr>
          <p:nvPr/>
        </p:nvSpPr>
        <p:spPr>
          <a:xfrm>
            <a:off x="5905500" y="4495800"/>
            <a:ext cx="1104900" cy="285750"/>
          </a:xfrm>
          <a:prstGeom prst="rect">
            <a:avLst/>
          </a:prstGeom>
          <a:solidFill>
            <a:srgbClr val="263540"/>
          </a:solidFill>
          <a:ln w="9525">
            <a:solidFill>
              <a:srgbClr val="DC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CFD1B0-6855-498A-8BF4-08672CD92666}"/>
              </a:ext>
            </a:extLst>
          </p:cNvPr>
          <p:cNvSpPr>
            <a:spLocks noGrp="1"/>
          </p:cNvSpPr>
          <p:nvPr/>
        </p:nvSpPr>
        <p:spPr>
          <a:xfrm>
            <a:off x="6000750" y="45529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规则演化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5891B1-43E1-4DD3-BE52-AB1B9CEC77FB}"/>
              </a:ext>
            </a:extLst>
          </p:cNvPr>
          <p:cNvSpPr>
            <a:spLocks noGrp="1"/>
          </p:cNvSpPr>
          <p:nvPr/>
        </p:nvSpPr>
        <p:spPr>
          <a:xfrm>
            <a:off x="8858250" y="1028700"/>
            <a:ext cx="2324100" cy="17145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BE3C0D2-9442-4962-AABC-B785E61755C8}"/>
              </a:ext>
            </a:extLst>
          </p:cNvPr>
          <p:cNvSpPr>
            <a:spLocks noGrp="1"/>
          </p:cNvSpPr>
          <p:nvPr/>
        </p:nvSpPr>
        <p:spPr>
          <a:xfrm>
            <a:off x="9048750" y="1200150"/>
            <a:ext cx="723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KN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787ED28-9B84-4BB6-BC41-CF5BE8EEDCFF}"/>
              </a:ext>
            </a:extLst>
          </p:cNvPr>
          <p:cNvSpPr>
            <a:spLocks noGrp="1"/>
          </p:cNvSpPr>
          <p:nvPr/>
        </p:nvSpPr>
        <p:spPr>
          <a:xfrm>
            <a:off x="9944100" y="1304925"/>
            <a:ext cx="1181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Notebook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0E9084-8247-45CE-9240-619493BCD271}"/>
              </a:ext>
            </a:extLst>
          </p:cNvPr>
          <p:cNvSpPr>
            <a:spLocks noGrp="1"/>
          </p:cNvSpPr>
          <p:nvPr/>
        </p:nvSpPr>
        <p:spPr>
          <a:xfrm>
            <a:off x="9105900" y="1885950"/>
            <a:ext cx="17526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AB79A3-9FE7-4986-9D81-C0440D6D9B52}"/>
              </a:ext>
            </a:extLst>
          </p:cNvPr>
          <p:cNvSpPr>
            <a:spLocks noGrp="1"/>
          </p:cNvSpPr>
          <p:nvPr/>
        </p:nvSpPr>
        <p:spPr>
          <a:xfrm>
            <a:off x="9105900" y="2076450"/>
            <a:ext cx="171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Sources -&gt; Evidence -&gt; Scenario -&gt; Answer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3382DC-2612-4945-80F7-E2D11B36FBD0}"/>
              </a:ext>
            </a:extLst>
          </p:cNvPr>
          <p:cNvSpPr>
            <a:spLocks noGrp="1"/>
          </p:cNvSpPr>
          <p:nvPr/>
        </p:nvSpPr>
        <p:spPr>
          <a:xfrm>
            <a:off x="8858250" y="3371850"/>
            <a:ext cx="1123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Rule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05A7F5-BE5E-4B89-87AB-901144DE8BBE}"/>
              </a:ext>
            </a:extLst>
          </p:cNvPr>
          <p:cNvSpPr>
            <a:spLocks noGrp="1"/>
          </p:cNvSpPr>
          <p:nvPr/>
        </p:nvSpPr>
        <p:spPr>
          <a:xfrm>
            <a:off x="8858250" y="379095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规则卡片与状态治理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BF8415-A2EE-4DE4-BE7E-13E7F5D5AC0F}"/>
              </a:ext>
            </a:extLst>
          </p:cNvPr>
          <p:cNvSpPr>
            <a:spLocks noGrp="1"/>
          </p:cNvSpPr>
          <p:nvPr/>
        </p:nvSpPr>
        <p:spPr>
          <a:xfrm>
            <a:off x="10172700" y="3371850"/>
            <a:ext cx="1123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Case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AC76C7-CCEA-4F8F-B778-C6B19AA6F717}"/>
              </a:ext>
            </a:extLst>
          </p:cNvPr>
          <p:cNvSpPr>
            <a:spLocks noGrp="1"/>
          </p:cNvSpPr>
          <p:nvPr/>
        </p:nvSpPr>
        <p:spPr>
          <a:xfrm>
            <a:off x="10172700" y="379095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历史案例复用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228AA0-F440-4823-9C92-CF0508754B49}"/>
              </a:ext>
            </a:extLst>
          </p:cNvPr>
          <p:cNvSpPr>
            <a:spLocks noGrp="1"/>
          </p:cNvSpPr>
          <p:nvPr/>
        </p:nvSpPr>
        <p:spPr>
          <a:xfrm>
            <a:off x="8858250" y="4533900"/>
            <a:ext cx="1123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Check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A574710-4A85-4706-9EC4-70951F9A98C4}"/>
              </a:ext>
            </a:extLst>
          </p:cNvPr>
          <p:cNvSpPr>
            <a:spLocks noGrp="1"/>
          </p:cNvSpPr>
          <p:nvPr/>
        </p:nvSpPr>
        <p:spPr>
          <a:xfrm>
            <a:off x="8858250" y="49530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Review checklist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5AF7D00-0686-4F21-9049-768F12FF91A6}"/>
              </a:ext>
            </a:extLst>
          </p:cNvPr>
          <p:cNvSpPr>
            <a:spLocks noGrp="1"/>
          </p:cNvSpPr>
          <p:nvPr/>
        </p:nvSpPr>
        <p:spPr>
          <a:xfrm>
            <a:off x="10172700" y="4533900"/>
            <a:ext cx="1219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Article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A172CE7-B3ED-4A76-A3C4-705A9AEDF284}"/>
              </a:ext>
            </a:extLst>
          </p:cNvPr>
          <p:cNvSpPr>
            <a:spLocks noGrp="1"/>
          </p:cNvSpPr>
          <p:nvPr/>
        </p:nvSpPr>
        <p:spPr>
          <a:xfrm>
            <a:off x="10172700" y="495300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文章研究与推演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4D90570-FE79-44FE-99B3-886DA87A77B1}"/>
              </a:ext>
            </a:extLst>
          </p:cNvPr>
          <p:cNvSpPr>
            <a:spLocks noGrp="1"/>
          </p:cNvSpPr>
          <p:nvPr/>
        </p:nvSpPr>
        <p:spPr>
          <a:xfrm>
            <a:off x="762000" y="56578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一句话目标：让工程师在具体设计、封装、layout、ESD、可靠性或 debug 场景中，拿到有出处、能审核、可执行的判断。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DCB5EAB-0344-4A5B-BC47-307BE4F2ECD7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2E44D1-BA8A-4BBA-8132-5FDC6AF483F8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8C2C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B8C2C8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6322EF-8DD7-4DDA-9252-54DAD48C4185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8C2C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B8C2C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220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3AEF5B3E-CF35-4C36-B325-42BF1A6BA8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EF6EFA-362C-4AE7-995B-F44E675C1499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D96A55-6A76-4AB5-82F1-4FE3AA6E30E7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50C371-5410-4134-AC08-4B9F57BF1EED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WHY NOW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D32369-87A7-4756-B272-106DBA87CC71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Knowhow 的损耗发生在文档、专家、review 与新技术之间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5B941C-3351-4E85-A0D6-814CB66888F2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方案的出发点不是替代专家，而是把专家经验变成团队可复用的工程判断资产。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341C20-3EF8-40EA-804F-9B4CDCB236A9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2381250" cy="203835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F55682-5485-4A3C-A6ED-7076C4EC1BDB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76200" cy="203835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4CCEA1-0EC0-4FB0-B281-42A256408F2D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201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散落资料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67E20D-CF77-456F-8BB9-AF25C1977ACE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20193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guideline、review slides、debug report、postmortem、app note 分散在不同位置。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F788F0-5B09-4AB0-AF03-7750D9C2E74E}"/>
              </a:ext>
            </a:extLst>
          </p:cNvPr>
          <p:cNvSpPr>
            <a:spLocks noGrp="1"/>
          </p:cNvSpPr>
          <p:nvPr/>
        </p:nvSpPr>
        <p:spPr>
          <a:xfrm>
            <a:off x="3314700" y="2190750"/>
            <a:ext cx="2381250" cy="203835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7043CC-0BE7-42E8-A2E1-5E82BDE53E08}"/>
              </a:ext>
            </a:extLst>
          </p:cNvPr>
          <p:cNvSpPr>
            <a:spLocks noGrp="1"/>
          </p:cNvSpPr>
          <p:nvPr/>
        </p:nvSpPr>
        <p:spPr>
          <a:xfrm>
            <a:off x="3314700" y="2190750"/>
            <a:ext cx="76200" cy="20383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F8BF67-70E0-4AF7-8B11-93CEDAD17195}"/>
              </a:ext>
            </a:extLst>
          </p:cNvPr>
          <p:cNvSpPr>
            <a:spLocks noGrp="1"/>
          </p:cNvSpPr>
          <p:nvPr/>
        </p:nvSpPr>
        <p:spPr>
          <a:xfrm>
            <a:off x="3524250" y="2343150"/>
            <a:ext cx="201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专家口述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7BEBF1-7816-4BC4-BA9C-7D2E2D0E4479}"/>
              </a:ext>
            </a:extLst>
          </p:cNvPr>
          <p:cNvSpPr>
            <a:spLocks noGrp="1"/>
          </p:cNvSpPr>
          <p:nvPr/>
        </p:nvSpPr>
        <p:spPr>
          <a:xfrm>
            <a:off x="3524250" y="2647950"/>
            <a:ext cx="20193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适用条件、例外、风险等级往往存在于 senior engineer 的经验里。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981CE3-80B5-411D-81C1-4568E9978215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2381250" cy="203835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5ECC5C-EFD6-4261-86C8-DDB2782C131F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76200" cy="20383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91D4DF-3196-4471-9AC1-8F748B4DC12A}"/>
              </a:ext>
            </a:extLst>
          </p:cNvPr>
          <p:cNvSpPr>
            <a:spLocks noGrp="1"/>
          </p:cNvSpPr>
          <p:nvPr/>
        </p:nvSpPr>
        <p:spPr>
          <a:xfrm>
            <a:off x="6248400" y="2343150"/>
            <a:ext cx="201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场景 review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AED057-1E80-4984-8129-A24A3BD9F039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20193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项目 review 前需要根据具体 block、封装、信号和 concern 生成 checklist。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44A724-EE2F-4DB5-8997-B5023E696592}"/>
              </a:ext>
            </a:extLst>
          </p:cNvPr>
          <p:cNvSpPr>
            <a:spLocks noGrp="1"/>
          </p:cNvSpPr>
          <p:nvPr/>
        </p:nvSpPr>
        <p:spPr>
          <a:xfrm>
            <a:off x="8763000" y="2190750"/>
            <a:ext cx="2381250" cy="203835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6C7C88-614A-4307-B8CF-0164F38FBE45}"/>
              </a:ext>
            </a:extLst>
          </p:cNvPr>
          <p:cNvSpPr>
            <a:spLocks noGrp="1"/>
          </p:cNvSpPr>
          <p:nvPr/>
        </p:nvSpPr>
        <p:spPr>
          <a:xfrm>
            <a:off x="8763000" y="2190750"/>
            <a:ext cx="76200" cy="203835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8D7257-05D4-4806-8D67-A87C260EAE4C}"/>
              </a:ext>
            </a:extLst>
          </p:cNvPr>
          <p:cNvSpPr>
            <a:spLocks noGrp="1"/>
          </p:cNvSpPr>
          <p:nvPr/>
        </p:nvSpPr>
        <p:spPr>
          <a:xfrm>
            <a:off x="8972550" y="2343150"/>
            <a:ext cx="2019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新技术冲击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EB1510A-ED89-4E75-B2D2-F7056CCEF020}"/>
              </a:ext>
            </a:extLst>
          </p:cNvPr>
          <p:cNvSpPr>
            <a:spLocks noGrp="1"/>
          </p:cNvSpPr>
          <p:nvPr/>
        </p:nvSpPr>
        <p:spPr>
          <a:xfrm>
            <a:off x="8972550" y="2647950"/>
            <a:ext cx="20193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技术文章可能支持、扩展、细化或挑战已有规则，需要受控推演。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83A669C-F334-48C7-A0B3-8259B8A1D191}"/>
              </a:ext>
            </a:extLst>
          </p:cNvPr>
          <p:cNvSpPr>
            <a:spLocks noGrp="1"/>
          </p:cNvSpPr>
          <p:nvPr/>
        </p:nvSpPr>
        <p:spPr>
          <a:xfrm>
            <a:off x="2990850" y="2971800"/>
            <a:ext cx="266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BC0A1A-2F28-4E45-A308-4E4E5BA81CDB}"/>
              </a:ext>
            </a:extLst>
          </p:cNvPr>
          <p:cNvSpPr>
            <a:spLocks noGrp="1"/>
          </p:cNvSpPr>
          <p:nvPr/>
        </p:nvSpPr>
        <p:spPr>
          <a:xfrm>
            <a:off x="5715000" y="2971800"/>
            <a:ext cx="266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5DD568E-5E83-48E4-9042-49CF1C5C25DD}"/>
              </a:ext>
            </a:extLst>
          </p:cNvPr>
          <p:cNvSpPr>
            <a:spLocks noGrp="1"/>
          </p:cNvSpPr>
          <p:nvPr/>
        </p:nvSpPr>
        <p:spPr>
          <a:xfrm>
            <a:off x="8439150" y="2971800"/>
            <a:ext cx="266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EA870D-C27B-4D39-961F-EA4C47D03592}"/>
              </a:ext>
            </a:extLst>
          </p:cNvPr>
          <p:cNvSpPr>
            <a:spLocks noGrp="1"/>
          </p:cNvSpPr>
          <p:nvPr/>
        </p:nvSpPr>
        <p:spPr>
          <a:xfrm>
            <a:off x="590550" y="4819650"/>
            <a:ext cx="10553700" cy="7810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26E644-5D18-4552-BF80-C10DC588C0AE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609600" cy="3810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58C6E56-7125-4994-A9ED-7B656D2C9632}"/>
              </a:ext>
            </a:extLst>
          </p:cNvPr>
          <p:cNvSpPr>
            <a:spLocks noGrp="1"/>
          </p:cNvSpPr>
          <p:nvPr/>
        </p:nvSpPr>
        <p:spPr>
          <a:xfrm>
            <a:off x="1676400" y="49530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产品机会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B7653CC-73AE-440A-9041-43C015184F63}"/>
              </a:ext>
            </a:extLst>
          </p:cNvPr>
          <p:cNvSpPr>
            <a:spLocks noGrp="1"/>
          </p:cNvSpPr>
          <p:nvPr/>
        </p:nvSpPr>
        <p:spPr>
          <a:xfrm>
            <a:off x="1676400" y="5257800"/>
            <a:ext cx="809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把“找资料、问专家、写 checklist、读新文章”这四件事，收束成同一个有证据链的 notebook 工作流。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5C3313-335D-46FD-9F78-58402F83DBFF}"/>
              </a:ext>
            </a:extLst>
          </p:cNvPr>
          <p:cNvSpPr>
            <a:spLocks noGrp="1"/>
          </p:cNvSpPr>
          <p:nvPr/>
        </p:nvSpPr>
        <p:spPr>
          <a:xfrm>
            <a:off x="8572500" y="5753100"/>
            <a:ext cx="2571750" cy="419100"/>
          </a:xfrm>
          <a:prstGeom prst="rect">
            <a:avLst/>
          </a:prstGeom>
          <a:solidFill>
            <a:srgbClr val="DDEC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35522D-5DB0-440E-8DC3-5680407CD0CC}"/>
              </a:ext>
            </a:extLst>
          </p:cNvPr>
          <p:cNvSpPr>
            <a:spLocks noGrp="1"/>
          </p:cNvSpPr>
          <p:nvPr/>
        </p:nvSpPr>
        <p:spPr>
          <a:xfrm>
            <a:off x="8705850" y="5867400"/>
            <a:ext cx="2305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关键约束：所有结论、规则、方法、案例和推演都必须绑定 Evidence。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2CB8A2-2F94-4906-84A2-3A56D754D52C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23ABF05-02D9-4599-BE12-14FD7EDBA6B5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FB0BE4C-F35B-4554-B6F5-015492F6F15E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556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56D270B0-2FB9-4489-B464-ACA62BD3B1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5E974B-FE60-4EA5-A98E-A84CBE82E7EC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54E400-C4E6-4262-BD6B-14FEA3748992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A73A86-37C2-41DD-8925-28F479A9BF8F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PRODUCT SYSTEM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4E6C53-D0F1-4449-B433-4A679F22E5FD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Notebook 把 sources 转成可引用、可审核、可推演的工程对象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F9812-B196-4B76-AC9B-C089447E7D06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每个 notebook 都是一个面向特定领域和团队场景的知识应用。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AA1197-1D93-461D-93DF-2DD9FC549948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1733550" cy="209550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B003B4-FF2B-4A59-96D8-26B307F84B16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76200" cy="209550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2AD3BC-F6A5-4692-BF1B-225CF2E34BDF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1. Sources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CC609-B5BF-4611-8946-25D5AB6C49E3}"/>
              </a:ext>
            </a:extLst>
          </p:cNvPr>
          <p:cNvSpPr>
            <a:spLocks noGrp="1"/>
          </p:cNvSpPr>
          <p:nvPr/>
        </p:nvSpPr>
        <p:spPr>
          <a:xfrm>
            <a:off x="800100" y="2628900"/>
            <a:ext cx="13716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PDF / PPTX / DOCX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Markdown / Excel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文章 / 白皮书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checklist / debug report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5EEC9C-57B0-49D9-9210-4F6A2DEB0E3E}"/>
              </a:ext>
            </a:extLst>
          </p:cNvPr>
          <p:cNvSpPr>
            <a:spLocks noGrp="1"/>
          </p:cNvSpPr>
          <p:nvPr/>
        </p:nvSpPr>
        <p:spPr>
          <a:xfrm>
            <a:off x="2428875" y="3143250"/>
            <a:ext cx="361950" cy="19050"/>
          </a:xfrm>
          <a:prstGeom prst="rect">
            <a:avLst/>
          </a:prstGeom>
          <a:solidFill>
            <a:srgbClr val="6471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CD3130-3D38-422B-821B-1C3E37CB66CE}"/>
              </a:ext>
            </a:extLst>
          </p:cNvPr>
          <p:cNvSpPr>
            <a:spLocks noGrp="1"/>
          </p:cNvSpPr>
          <p:nvPr/>
        </p:nvSpPr>
        <p:spPr>
          <a:xfrm>
            <a:off x="2771775" y="304800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339EE4-8852-408A-89C4-6C1F81E44F9F}"/>
              </a:ext>
            </a:extLst>
          </p:cNvPr>
          <p:cNvSpPr>
            <a:spLocks noGrp="1"/>
          </p:cNvSpPr>
          <p:nvPr/>
        </p:nvSpPr>
        <p:spPr>
          <a:xfrm>
            <a:off x="3028950" y="2171700"/>
            <a:ext cx="1733550" cy="209550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2A55C6-1EC5-41C3-9AB6-141CD38D4466}"/>
              </a:ext>
            </a:extLst>
          </p:cNvPr>
          <p:cNvSpPr>
            <a:spLocks noGrp="1"/>
          </p:cNvSpPr>
          <p:nvPr/>
        </p:nvSpPr>
        <p:spPr>
          <a:xfrm>
            <a:off x="3028950" y="2171700"/>
            <a:ext cx="76200" cy="20955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8970F5-92F9-4632-97EB-1D78062B4F3C}"/>
              </a:ext>
            </a:extLst>
          </p:cNvPr>
          <p:cNvSpPr>
            <a:spLocks noGrp="1"/>
          </p:cNvSpPr>
          <p:nvPr/>
        </p:nvSpPr>
        <p:spPr>
          <a:xfrm>
            <a:off x="3238500" y="23241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2. Extraction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BB41E4-6387-4D43-97C6-C081D34F2A30}"/>
              </a:ext>
            </a:extLst>
          </p:cNvPr>
          <p:cNvSpPr>
            <a:spLocks noGrp="1"/>
          </p:cNvSpPr>
          <p:nvPr/>
        </p:nvSpPr>
        <p:spPr>
          <a:xfrm>
            <a:off x="3238500" y="2628900"/>
            <a:ext cx="13716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规则候选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方法候选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风险项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案例 / 术语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文章 claim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CB3417-1DFD-4179-9AF2-9DD97CD29199}"/>
              </a:ext>
            </a:extLst>
          </p:cNvPr>
          <p:cNvSpPr>
            <a:spLocks noGrp="1"/>
          </p:cNvSpPr>
          <p:nvPr/>
        </p:nvSpPr>
        <p:spPr>
          <a:xfrm>
            <a:off x="4867275" y="3143250"/>
            <a:ext cx="361950" cy="19050"/>
          </a:xfrm>
          <a:prstGeom prst="rect">
            <a:avLst/>
          </a:prstGeom>
          <a:solidFill>
            <a:srgbClr val="6471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AAB1C4-37FD-4580-BFC6-E7064C7F023E}"/>
              </a:ext>
            </a:extLst>
          </p:cNvPr>
          <p:cNvSpPr>
            <a:spLocks noGrp="1"/>
          </p:cNvSpPr>
          <p:nvPr/>
        </p:nvSpPr>
        <p:spPr>
          <a:xfrm>
            <a:off x="5210175" y="304800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9A66D7-0752-4E48-A2F5-EF872FAE9453}"/>
              </a:ext>
            </a:extLst>
          </p:cNvPr>
          <p:cNvSpPr>
            <a:spLocks noGrp="1"/>
          </p:cNvSpPr>
          <p:nvPr/>
        </p:nvSpPr>
        <p:spPr>
          <a:xfrm>
            <a:off x="5467350" y="2171700"/>
            <a:ext cx="1733550" cy="209550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1B74A1-9EED-41AE-AAA1-8993BC717688}"/>
              </a:ext>
            </a:extLst>
          </p:cNvPr>
          <p:cNvSpPr>
            <a:spLocks noGrp="1"/>
          </p:cNvSpPr>
          <p:nvPr/>
        </p:nvSpPr>
        <p:spPr>
          <a:xfrm>
            <a:off x="5467350" y="2171700"/>
            <a:ext cx="76200" cy="20955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1E1E8A3-681E-437D-A3ED-0A1B465DE74C}"/>
              </a:ext>
            </a:extLst>
          </p:cNvPr>
          <p:cNvSpPr>
            <a:spLocks noGrp="1"/>
          </p:cNvSpPr>
          <p:nvPr/>
        </p:nvSpPr>
        <p:spPr>
          <a:xfrm>
            <a:off x="5676900" y="23241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3. Knowledge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4B04F1-B5EE-468D-A647-A247CF0AE4E9}"/>
              </a:ext>
            </a:extLst>
          </p:cNvPr>
          <p:cNvSpPr>
            <a:spLocks noGrp="1"/>
          </p:cNvSpPr>
          <p:nvPr/>
        </p:nvSpPr>
        <p:spPr>
          <a:xfrm>
            <a:off x="5676900" y="2628900"/>
            <a:ext cx="13716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Rule / Method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Risk / Case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Checklist Item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Evidence Store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Scenario Ontology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D155C1-E994-4CC5-BE90-D8FFF5BA9632}"/>
              </a:ext>
            </a:extLst>
          </p:cNvPr>
          <p:cNvSpPr>
            <a:spLocks noGrp="1"/>
          </p:cNvSpPr>
          <p:nvPr/>
        </p:nvSpPr>
        <p:spPr>
          <a:xfrm>
            <a:off x="7305675" y="3143250"/>
            <a:ext cx="361950" cy="19050"/>
          </a:xfrm>
          <a:prstGeom prst="rect">
            <a:avLst/>
          </a:prstGeom>
          <a:solidFill>
            <a:srgbClr val="6471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F9110B-AC72-4F4A-A1E7-1BC0E67ADC71}"/>
              </a:ext>
            </a:extLst>
          </p:cNvPr>
          <p:cNvSpPr>
            <a:spLocks noGrp="1"/>
          </p:cNvSpPr>
          <p:nvPr/>
        </p:nvSpPr>
        <p:spPr>
          <a:xfrm>
            <a:off x="7648575" y="304800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55A417-E92D-4BB7-B67F-1FF6A98C3565}"/>
              </a:ext>
            </a:extLst>
          </p:cNvPr>
          <p:cNvSpPr>
            <a:spLocks noGrp="1"/>
          </p:cNvSpPr>
          <p:nvPr/>
        </p:nvSpPr>
        <p:spPr>
          <a:xfrm>
            <a:off x="7905750" y="2171700"/>
            <a:ext cx="1733550" cy="209550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07665D3-E7D0-493E-A3BB-F39BB468AB2C}"/>
              </a:ext>
            </a:extLst>
          </p:cNvPr>
          <p:cNvSpPr>
            <a:spLocks noGrp="1"/>
          </p:cNvSpPr>
          <p:nvPr/>
        </p:nvSpPr>
        <p:spPr>
          <a:xfrm>
            <a:off x="7905750" y="2171700"/>
            <a:ext cx="76200" cy="209550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3DD0D8-DECD-4819-97A2-9F84A22EF1E1}"/>
              </a:ext>
            </a:extLst>
          </p:cNvPr>
          <p:cNvSpPr>
            <a:spLocks noGrp="1"/>
          </p:cNvSpPr>
          <p:nvPr/>
        </p:nvSpPr>
        <p:spPr>
          <a:xfrm>
            <a:off x="8115300" y="23241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4. Use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66FF313-E112-4F78-9F63-4C16DA0496F2}"/>
              </a:ext>
            </a:extLst>
          </p:cNvPr>
          <p:cNvSpPr>
            <a:spLocks noGrp="1"/>
          </p:cNvSpPr>
          <p:nvPr/>
        </p:nvSpPr>
        <p:spPr>
          <a:xfrm>
            <a:off x="8115300" y="2628900"/>
            <a:ext cx="13716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Ask Knowhow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Scenario Query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Rule Browser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Case Search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Checklist Generator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987DF0-AE3A-46B4-A7B5-1822C774090A}"/>
              </a:ext>
            </a:extLst>
          </p:cNvPr>
          <p:cNvSpPr>
            <a:spLocks noGrp="1"/>
          </p:cNvSpPr>
          <p:nvPr/>
        </p:nvSpPr>
        <p:spPr>
          <a:xfrm>
            <a:off x="9744075" y="3143250"/>
            <a:ext cx="361950" cy="19050"/>
          </a:xfrm>
          <a:prstGeom prst="rect">
            <a:avLst/>
          </a:prstGeom>
          <a:solidFill>
            <a:srgbClr val="6471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5276E8B-37AD-4546-9975-2A86CAD4FB6C}"/>
              </a:ext>
            </a:extLst>
          </p:cNvPr>
          <p:cNvSpPr>
            <a:spLocks noGrp="1"/>
          </p:cNvSpPr>
          <p:nvPr/>
        </p:nvSpPr>
        <p:spPr>
          <a:xfrm>
            <a:off x="10086975" y="304800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F3013FB-F239-4B69-98C4-0B4FDD545617}"/>
              </a:ext>
            </a:extLst>
          </p:cNvPr>
          <p:cNvSpPr>
            <a:spLocks noGrp="1"/>
          </p:cNvSpPr>
          <p:nvPr/>
        </p:nvSpPr>
        <p:spPr>
          <a:xfrm>
            <a:off x="10344150" y="2171700"/>
            <a:ext cx="1295400" cy="2095500"/>
          </a:xfrm>
          <a:prstGeom prst="rect">
            <a:avLst/>
          </a:prstGeom>
          <a:solidFill>
            <a:srgbClr val="FBFAF6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BEB0907-CDD4-43BB-95BA-89DA7C627D7C}"/>
              </a:ext>
            </a:extLst>
          </p:cNvPr>
          <p:cNvSpPr>
            <a:spLocks noGrp="1"/>
          </p:cNvSpPr>
          <p:nvPr/>
        </p:nvSpPr>
        <p:spPr>
          <a:xfrm>
            <a:off x="10344150" y="2171700"/>
            <a:ext cx="76200" cy="2095500"/>
          </a:xfrm>
          <a:prstGeom prst="rect">
            <a:avLst/>
          </a:prstGeom>
          <a:solidFill>
            <a:srgbClr val="47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27968E3-C2CA-421C-8E5F-30F3B208FA97}"/>
              </a:ext>
            </a:extLst>
          </p:cNvPr>
          <p:cNvSpPr>
            <a:spLocks noGrp="1"/>
          </p:cNvSpPr>
          <p:nvPr/>
        </p:nvSpPr>
        <p:spPr>
          <a:xfrm>
            <a:off x="10553700" y="232410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77A5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77A5B"/>
                </a:solidFill>
                <a:latin typeface="PingFang SC"/>
                <a:ea typeface="PingFang SC"/>
                <a:cs typeface="PingFang SC"/>
              </a:rPr>
              <a:t>5. Govern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E5B0F4-BF7B-4809-A30B-8757BB502E9F}"/>
              </a:ext>
            </a:extLst>
          </p:cNvPr>
          <p:cNvSpPr>
            <a:spLocks noGrp="1"/>
          </p:cNvSpPr>
          <p:nvPr/>
        </p:nvSpPr>
        <p:spPr>
          <a:xfrm>
            <a:off x="10553700" y="2628900"/>
            <a:ext cx="9334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Curator review</a:t>
            </a:r>
          </a:p>
          <a:p>
            <a:pPr algn="l">
              <a:def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Merge duplicates</a:t>
            </a:r>
          </a:p>
          <a:p>
            <a:pPr algn="l">
              <a:def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Resolve conflicts</a:t>
            </a:r>
          </a:p>
          <a:p>
            <a:pPr algn="l">
              <a:def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Version / publish</a:t>
            </a:r>
          </a:p>
          <a:p>
            <a:pPr algn="l">
              <a:def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Feedback loop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C8E3AE5-BC55-4FF4-8C12-6F4A0EAF4F23}"/>
              </a:ext>
            </a:extLst>
          </p:cNvPr>
          <p:cNvSpPr>
            <a:spLocks noGrp="1"/>
          </p:cNvSpPr>
          <p:nvPr/>
        </p:nvSpPr>
        <p:spPr>
          <a:xfrm>
            <a:off x="1085850" y="4810125"/>
            <a:ext cx="10001250" cy="7429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CB05948-F0FF-4BAF-8EFC-7C462E2D55B8}"/>
              </a:ext>
            </a:extLst>
          </p:cNvPr>
          <p:cNvSpPr>
            <a:spLocks noGrp="1"/>
          </p:cNvSpPr>
          <p:nvPr/>
        </p:nvSpPr>
        <p:spPr>
          <a:xfrm>
            <a:off x="1352550" y="5086350"/>
            <a:ext cx="1333500" cy="381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38343E3-BD40-4B7F-A938-2A93EAC8C7F6}"/>
              </a:ext>
            </a:extLst>
          </p:cNvPr>
          <p:cNvSpPr>
            <a:spLocks noGrp="1"/>
          </p:cNvSpPr>
          <p:nvPr/>
        </p:nvSpPr>
        <p:spPr>
          <a:xfrm>
            <a:off x="2914650" y="4943475"/>
            <a:ext cx="5429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系统输出是一组可维护对象：规则、方法、风险、案例、检查项、文章 claim、推演和候选规则。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7724DD0-7C79-4ADE-AFBA-5EAC6F3945B4}"/>
              </a:ext>
            </a:extLst>
          </p:cNvPr>
          <p:cNvSpPr>
            <a:spLocks noGrp="1"/>
          </p:cNvSpPr>
          <p:nvPr/>
        </p:nvSpPr>
        <p:spPr>
          <a:xfrm>
            <a:off x="8839200" y="5057775"/>
            <a:ext cx="11430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477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13E568-AE9D-4DFB-9490-3AD8A796FD6F}"/>
              </a:ext>
            </a:extLst>
          </p:cNvPr>
          <p:cNvSpPr>
            <a:spLocks noGrp="1"/>
          </p:cNvSpPr>
          <p:nvPr/>
        </p:nvSpPr>
        <p:spPr>
          <a:xfrm>
            <a:off x="8934450" y="5114925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477A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7A5B"/>
                </a:solidFill>
                <a:latin typeface="PingFang SC"/>
                <a:ea typeface="PingFang SC"/>
                <a:cs typeface="PingFang SC"/>
              </a:rPr>
              <a:t>人工审核状态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C68A589-1BB5-4258-A5E2-3CBD20E1B09E}"/>
              </a:ext>
            </a:extLst>
          </p:cNvPr>
          <p:cNvSpPr>
            <a:spLocks noGrp="1"/>
          </p:cNvSpPr>
          <p:nvPr/>
        </p:nvSpPr>
        <p:spPr>
          <a:xfrm>
            <a:off x="10096500" y="5057775"/>
            <a:ext cx="8953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8C222A5-A738-4145-B42B-95B62C3C9725}"/>
              </a:ext>
            </a:extLst>
          </p:cNvPr>
          <p:cNvSpPr>
            <a:spLocks noGrp="1"/>
          </p:cNvSpPr>
          <p:nvPr/>
        </p:nvSpPr>
        <p:spPr>
          <a:xfrm>
            <a:off x="10191750" y="511492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引用来源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587A287-4181-433F-A3F4-D4AFD524DE93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FBE1817-0A5C-4FEA-B251-8FE47276C999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9ED4FAA-587F-4E94-9AC1-BC00DA0F05D7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3080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CA7E91AE-A357-48FC-BC62-A01511DF2C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5FCC60-9B1D-4DFA-9AEE-E82D75F5833C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BA81FD-9432-4FAD-A56B-BF13DD06D510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BB920C-A60D-4C49-95F2-D9396D3C7C92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OPERATING MODEL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F4084C-AB9B-46BC-A34F-236AC9C3C86B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Builder 治理知识，Consumer 在场景中复用，反馈再回到 notebook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22601F-FEB4-4A4B-887B-BA4B29E91798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产品要同时服务知识维护者和最终工程用户，二者通过发布、反馈和规则演化形成闭环。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AE28B6-AABE-4599-B55F-52A91AE32860}"/>
              </a:ext>
            </a:extLst>
          </p:cNvPr>
          <p:cNvSpPr>
            <a:spLocks noGrp="1"/>
          </p:cNvSpPr>
          <p:nvPr/>
        </p:nvSpPr>
        <p:spPr>
          <a:xfrm>
            <a:off x="590550" y="2019300"/>
            <a:ext cx="1428750" cy="16383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5757E8-4E90-4170-85AA-D1395FDFE774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1181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Builder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9C42D3-7E88-4D32-999F-94936C391DDE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1066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资深工程师 / curator / review owner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55B14D-613D-415B-BC78-462D4C480222}"/>
              </a:ext>
            </a:extLst>
          </p:cNvPr>
          <p:cNvSpPr>
            <a:spLocks noGrp="1"/>
          </p:cNvSpPr>
          <p:nvPr/>
        </p:nvSpPr>
        <p:spPr>
          <a:xfrm>
            <a:off x="2381250" y="2305050"/>
            <a:ext cx="1524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AB8B0C-EE56-4501-846F-2F71680A7AE6}"/>
              </a:ext>
            </a:extLst>
          </p:cNvPr>
          <p:cNvSpPr>
            <a:spLocks noGrp="1"/>
          </p:cNvSpPr>
          <p:nvPr/>
        </p:nvSpPr>
        <p:spPr>
          <a:xfrm>
            <a:off x="2533650" y="24574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创建范围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5C7E04-A9CA-4CDC-9AB1-D9AB9569BEC7}"/>
              </a:ext>
            </a:extLst>
          </p:cNvPr>
          <p:cNvSpPr>
            <a:spLocks noGrp="1"/>
          </p:cNvSpPr>
          <p:nvPr/>
        </p:nvSpPr>
        <p:spPr>
          <a:xfrm>
            <a:off x="2533650" y="274320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定义 notebook 用途、domain、taxonomy 和 target users。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B01F55-E304-4473-BF5B-A3B3BE5FC956}"/>
              </a:ext>
            </a:extLst>
          </p:cNvPr>
          <p:cNvSpPr>
            <a:spLocks noGrp="1"/>
          </p:cNvSpPr>
          <p:nvPr/>
        </p:nvSpPr>
        <p:spPr>
          <a:xfrm>
            <a:off x="4191000" y="2305050"/>
            <a:ext cx="1524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A07096-613B-4D6F-8879-CA86672DBE08}"/>
              </a:ext>
            </a:extLst>
          </p:cNvPr>
          <p:cNvSpPr>
            <a:spLocks noGrp="1"/>
          </p:cNvSpPr>
          <p:nvPr/>
        </p:nvSpPr>
        <p:spPr>
          <a:xfrm>
            <a:off x="4343400" y="24574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接入资料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D1A0C6-86E1-40EE-A083-7F6D92F5CDA9}"/>
              </a:ext>
            </a:extLst>
          </p:cNvPr>
          <p:cNvSpPr>
            <a:spLocks noGrp="1"/>
          </p:cNvSpPr>
          <p:nvPr/>
        </p:nvSpPr>
        <p:spPr>
          <a:xfrm>
            <a:off x="4343400" y="274320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上传历史规则、案例、review slides、文章和 checklist。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5D952B-F9D8-44D7-9DB9-88A70D946D39}"/>
              </a:ext>
            </a:extLst>
          </p:cNvPr>
          <p:cNvSpPr>
            <a:spLocks noGrp="1"/>
          </p:cNvSpPr>
          <p:nvPr/>
        </p:nvSpPr>
        <p:spPr>
          <a:xfrm>
            <a:off x="6000750" y="2305050"/>
            <a:ext cx="1524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519E18-3906-4133-B2DD-8F3EE275BC77}"/>
              </a:ext>
            </a:extLst>
          </p:cNvPr>
          <p:cNvSpPr>
            <a:spLocks noGrp="1"/>
          </p:cNvSpPr>
          <p:nvPr/>
        </p:nvSpPr>
        <p:spPr>
          <a:xfrm>
            <a:off x="6153150" y="24574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审核抽取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67CC22-C674-4537-A976-4388B0D43326}"/>
              </a:ext>
            </a:extLst>
          </p:cNvPr>
          <p:cNvSpPr>
            <a:spLocks noGrp="1"/>
          </p:cNvSpPr>
          <p:nvPr/>
        </p:nvSpPr>
        <p:spPr>
          <a:xfrm>
            <a:off x="6153150" y="274320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approve / reject / edit，合并重复并处理冲突。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E6AFDF-A393-4D35-AA84-D1E0D47DE62B}"/>
              </a:ext>
            </a:extLst>
          </p:cNvPr>
          <p:cNvSpPr>
            <a:spLocks noGrp="1"/>
          </p:cNvSpPr>
          <p:nvPr/>
        </p:nvSpPr>
        <p:spPr>
          <a:xfrm>
            <a:off x="7810500" y="2305050"/>
            <a:ext cx="1524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2CD1D9-4A0B-4312-83E1-C14988BDDA74}"/>
              </a:ext>
            </a:extLst>
          </p:cNvPr>
          <p:cNvSpPr>
            <a:spLocks noGrp="1"/>
          </p:cNvSpPr>
          <p:nvPr/>
        </p:nvSpPr>
        <p:spPr>
          <a:xfrm>
            <a:off x="7962900" y="24574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发布版本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1B0414-D1BF-4106-9A22-DD9D9F5D2221}"/>
              </a:ext>
            </a:extLst>
          </p:cNvPr>
          <p:cNvSpPr>
            <a:spLocks noGrp="1"/>
          </p:cNvSpPr>
          <p:nvPr/>
        </p:nvSpPr>
        <p:spPr>
          <a:xfrm>
            <a:off x="7962900" y="274320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把 reviewed / approved knowhow 发布给团队使用。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622F70-32CA-4E42-8965-2A22B89068CF}"/>
              </a:ext>
            </a:extLst>
          </p:cNvPr>
          <p:cNvSpPr>
            <a:spLocks noGrp="1"/>
          </p:cNvSpPr>
          <p:nvPr/>
        </p:nvSpPr>
        <p:spPr>
          <a:xfrm>
            <a:off x="590550" y="4114800"/>
            <a:ext cx="1428750" cy="163830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2FCB87-F71B-40A8-AFF4-A6E88125959C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1181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Consumer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72E810-91F8-4198-B947-29C3A0E816E2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1066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项目工程师 / 新员工 / reviewer / manager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C3208EB-1146-4DF2-BF62-152AA775F61A}"/>
              </a:ext>
            </a:extLst>
          </p:cNvPr>
          <p:cNvSpPr>
            <a:spLocks noGrp="1"/>
          </p:cNvSpPr>
          <p:nvPr/>
        </p:nvSpPr>
        <p:spPr>
          <a:xfrm>
            <a:off x="2381250" y="4400550"/>
            <a:ext cx="1524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103B1F6-3194-459A-A208-E5B78E8055AD}"/>
              </a:ext>
            </a:extLst>
          </p:cNvPr>
          <p:cNvSpPr>
            <a:spLocks noGrp="1"/>
          </p:cNvSpPr>
          <p:nvPr/>
        </p:nvSpPr>
        <p:spPr>
          <a:xfrm>
            <a:off x="2533650" y="45529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描述场景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FFDCA9-20B7-4B46-8933-82E64AF3B08F}"/>
              </a:ext>
            </a:extLst>
          </p:cNvPr>
          <p:cNvSpPr>
            <a:spLocks noGrp="1"/>
          </p:cNvSpPr>
          <p:nvPr/>
        </p:nvSpPr>
        <p:spPr>
          <a:xfrm>
            <a:off x="2533650" y="483870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输入 block、stage、package、concern 和约束。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BCEA6E-BDD4-4C79-B8F4-DB2B9A3922F0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1524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F349408-5B96-4B7E-8698-BD205BE2A8A5}"/>
              </a:ext>
            </a:extLst>
          </p:cNvPr>
          <p:cNvSpPr>
            <a:spLocks noGrp="1"/>
          </p:cNvSpPr>
          <p:nvPr/>
        </p:nvSpPr>
        <p:spPr>
          <a:xfrm>
            <a:off x="4343400" y="45529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提问查询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B80F15-5F07-4ADD-9EC2-75AEE0409002}"/>
              </a:ext>
            </a:extLst>
          </p:cNvPr>
          <p:cNvSpPr>
            <a:spLocks noGrp="1"/>
          </p:cNvSpPr>
          <p:nvPr/>
        </p:nvSpPr>
        <p:spPr>
          <a:xfrm>
            <a:off x="4343400" y="483870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Ask Knowhow、Rule Browser、Case Search。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448B00-3A15-48F9-BA06-F345E6306F77}"/>
              </a:ext>
            </a:extLst>
          </p:cNvPr>
          <p:cNvSpPr>
            <a:spLocks noGrp="1"/>
          </p:cNvSpPr>
          <p:nvPr/>
        </p:nvSpPr>
        <p:spPr>
          <a:xfrm>
            <a:off x="6000750" y="4400550"/>
            <a:ext cx="1524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0354EF-59A2-4825-9DD7-DBB9C0E6632B}"/>
              </a:ext>
            </a:extLst>
          </p:cNvPr>
          <p:cNvSpPr>
            <a:spLocks noGrp="1"/>
          </p:cNvSpPr>
          <p:nvPr/>
        </p:nvSpPr>
        <p:spPr>
          <a:xfrm>
            <a:off x="6153150" y="45529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生成检查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71CDB3-1C05-40BA-BA04-8F25AE78B6C6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根据场景生成 review checklist 与缺失信息。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DE2F0C-F1F9-4E6B-B9AD-771AE8A9885F}"/>
              </a:ext>
            </a:extLst>
          </p:cNvPr>
          <p:cNvSpPr>
            <a:spLocks noGrp="1"/>
          </p:cNvSpPr>
          <p:nvPr/>
        </p:nvSpPr>
        <p:spPr>
          <a:xfrm>
            <a:off x="7810500" y="4400550"/>
            <a:ext cx="1524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DB67E9-736C-4863-8517-1A3DEBEEF802}"/>
              </a:ext>
            </a:extLst>
          </p:cNvPr>
          <p:cNvSpPr>
            <a:spLocks noGrp="1"/>
          </p:cNvSpPr>
          <p:nvPr/>
        </p:nvSpPr>
        <p:spPr>
          <a:xfrm>
            <a:off x="7962900" y="45529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反馈质量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C132CD4-379F-4083-B949-536FA55889E5}"/>
              </a:ext>
            </a:extLst>
          </p:cNvPr>
          <p:cNvSpPr>
            <a:spLocks noGrp="1"/>
          </p:cNvSpPr>
          <p:nvPr/>
        </p:nvSpPr>
        <p:spPr>
          <a:xfrm>
            <a:off x="7962900" y="483870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保存答案、反馈有用性，驱动 notebook 更新。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2F0A5D5-4310-42A2-84E6-F51D8EDC2C99}"/>
              </a:ext>
            </a:extLst>
          </p:cNvPr>
          <p:cNvSpPr>
            <a:spLocks noGrp="1"/>
          </p:cNvSpPr>
          <p:nvPr/>
        </p:nvSpPr>
        <p:spPr>
          <a:xfrm>
            <a:off x="9829800" y="2000250"/>
            <a:ext cx="9525" cy="37147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77655B-6118-4C48-B664-E1058F7ACEA8}"/>
              </a:ext>
            </a:extLst>
          </p:cNvPr>
          <p:cNvSpPr>
            <a:spLocks noGrp="1"/>
          </p:cNvSpPr>
          <p:nvPr/>
        </p:nvSpPr>
        <p:spPr>
          <a:xfrm>
            <a:off x="10096500" y="21526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核心组织动作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D22412-BF09-49BF-8B15-9CE275E38D0D}"/>
              </a:ext>
            </a:extLst>
          </p:cNvPr>
          <p:cNvSpPr>
            <a:spLocks noGrp="1"/>
          </p:cNvSpPr>
          <p:nvPr/>
        </p:nvSpPr>
        <p:spPr>
          <a:xfrm>
            <a:off x="10096500" y="2571750"/>
            <a:ext cx="11049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FD707EC-4CAF-4204-AE27-22D0A4A71C4C}"/>
              </a:ext>
            </a:extLst>
          </p:cNvPr>
          <p:cNvSpPr>
            <a:spLocks noGrp="1"/>
          </p:cNvSpPr>
          <p:nvPr/>
        </p:nvSpPr>
        <p:spPr>
          <a:xfrm>
            <a:off x="10191750" y="26289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Review Queue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07193B3-05E8-4027-A352-D04AAA54753C}"/>
              </a:ext>
            </a:extLst>
          </p:cNvPr>
          <p:cNvSpPr>
            <a:spLocks noGrp="1"/>
          </p:cNvSpPr>
          <p:nvPr/>
        </p:nvSpPr>
        <p:spPr>
          <a:xfrm>
            <a:off x="10096500" y="2990850"/>
            <a:ext cx="8763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5B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E784BBB-F7E8-4DA5-AC20-A2E036E0B10B}"/>
              </a:ext>
            </a:extLst>
          </p:cNvPr>
          <p:cNvSpPr>
            <a:spLocks noGrp="1"/>
          </p:cNvSpPr>
          <p:nvPr/>
        </p:nvSpPr>
        <p:spPr>
          <a:xfrm>
            <a:off x="10191750" y="30480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Conflict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A109841-7834-4CCA-A63E-B1F38DDBF483}"/>
              </a:ext>
            </a:extLst>
          </p:cNvPr>
          <p:cNvSpPr>
            <a:spLocks noGrp="1"/>
          </p:cNvSpPr>
          <p:nvPr/>
        </p:nvSpPr>
        <p:spPr>
          <a:xfrm>
            <a:off x="10096500" y="3409950"/>
            <a:ext cx="8191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477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6FB8D16-62D4-4C8A-ADEF-44BBEA08DA28}"/>
              </a:ext>
            </a:extLst>
          </p:cNvPr>
          <p:cNvSpPr>
            <a:spLocks noGrp="1"/>
          </p:cNvSpPr>
          <p:nvPr/>
        </p:nvSpPr>
        <p:spPr>
          <a:xfrm>
            <a:off x="10191750" y="3467100"/>
            <a:ext cx="628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477A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7A5B"/>
                </a:solidFill>
                <a:latin typeface="PingFang SC"/>
                <a:ea typeface="PingFang SC"/>
                <a:cs typeface="PingFang SC"/>
              </a:rPr>
              <a:t>Version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E72E41-CD80-4C9F-BB95-881205DA1A53}"/>
              </a:ext>
            </a:extLst>
          </p:cNvPr>
          <p:cNvSpPr>
            <a:spLocks noGrp="1"/>
          </p:cNvSpPr>
          <p:nvPr/>
        </p:nvSpPr>
        <p:spPr>
          <a:xfrm>
            <a:off x="10096500" y="3829050"/>
            <a:ext cx="9144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201AE09-912B-4AD7-A7F5-9F9E0CA0FB93}"/>
              </a:ext>
            </a:extLst>
          </p:cNvPr>
          <p:cNvSpPr>
            <a:spLocks noGrp="1"/>
          </p:cNvSpPr>
          <p:nvPr/>
        </p:nvSpPr>
        <p:spPr>
          <a:xfrm>
            <a:off x="10191750" y="38862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Feedback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86A6230-2F95-4EB4-99EF-D611B5C76A91}"/>
              </a:ext>
            </a:extLst>
          </p:cNvPr>
          <p:cNvSpPr>
            <a:spLocks noGrp="1"/>
          </p:cNvSpPr>
          <p:nvPr/>
        </p:nvSpPr>
        <p:spPr>
          <a:xfrm>
            <a:off x="9334500" y="3657600"/>
            <a:ext cx="495300" cy="190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4E0B8F1-F7E5-47B5-BF39-7856C2C02412}"/>
              </a:ext>
            </a:extLst>
          </p:cNvPr>
          <p:cNvSpPr>
            <a:spLocks noGrp="1"/>
          </p:cNvSpPr>
          <p:nvPr/>
        </p:nvSpPr>
        <p:spPr>
          <a:xfrm>
            <a:off x="9086850" y="3562350"/>
            <a:ext cx="22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D8D2C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D2C6"/>
                </a:solidFill>
                <a:latin typeface="PingFang SC"/>
                <a:ea typeface="PingFang SC"/>
                <a:cs typeface="PingFang SC"/>
              </a:rPr>
              <a:t>&lt;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877CEC9-9596-427F-9CC8-A841C91CBCD3}"/>
              </a:ext>
            </a:extLst>
          </p:cNvPr>
          <p:cNvSpPr>
            <a:spLocks noGrp="1"/>
          </p:cNvSpPr>
          <p:nvPr/>
        </p:nvSpPr>
        <p:spPr>
          <a:xfrm>
            <a:off x="10096500" y="4362450"/>
            <a:ext cx="12382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反馈和文章推演会进入 curator 的候选规则队列，而不是直接污染 approved 规则。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577B5BA-CE87-4A8F-BCD9-0BEBF79A6D33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37A69CA-9D96-430C-A715-D6A8E5FDC8A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A816C58-72B2-40ED-931D-E4C64256A5C1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342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96DC57D0-A2CE-4A49-BBF7-DD61EA7FF8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D828F0-1CC8-4E3E-BFA5-9BA634C0AE1D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3F45F5-7C6E-481F-8C61-8FABE35301E5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525EB2-4E50-438B-B39B-D39EDDAD508A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KNOWLEDGE MODEL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097EC6-B5B1-4590-87B7-A6D486F8C0A6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Evidence 和 Scenario 是可信回答的两个锚点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00DE7E-EFB3-4AE5-93ED-192537E50295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系统把资料转成结构化知识对象，并让每条建议都能回到场景条件和来源证据。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973677-0329-4833-931A-A5E4FA7A1F95}"/>
              </a:ext>
            </a:extLst>
          </p:cNvPr>
          <p:cNvSpPr>
            <a:spLocks noGrp="1"/>
          </p:cNvSpPr>
          <p:nvPr/>
        </p:nvSpPr>
        <p:spPr>
          <a:xfrm>
            <a:off x="4514850" y="3257550"/>
            <a:ext cx="3162300" cy="14668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2CAA3B-DEA1-4016-8E9D-550C4688C3BB}"/>
              </a:ext>
            </a:extLst>
          </p:cNvPr>
          <p:cNvSpPr>
            <a:spLocks noGrp="1"/>
          </p:cNvSpPr>
          <p:nvPr/>
        </p:nvSpPr>
        <p:spPr>
          <a:xfrm>
            <a:off x="4819650" y="3248025"/>
            <a:ext cx="2552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  <a:p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+</a:t>
            </a:r>
          </a:p>
          <a:p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Scenario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06641B-9363-463F-9D88-F71619913F91}"/>
              </a:ext>
            </a:extLst>
          </p:cNvPr>
          <p:cNvSpPr>
            <a:spLocks noGrp="1"/>
          </p:cNvSpPr>
          <p:nvPr/>
        </p:nvSpPr>
        <p:spPr>
          <a:xfrm>
            <a:off x="4943475" y="4352925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dirty="0" err="1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来源位置、quoted</a:t>
            </a:r>
            <a:r>
              <a:rPr sz="975" b="0" dirty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975" b="0" dirty="0" err="1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span、confidence</a:t>
            </a:r>
            <a:endParaRPr sz="975" b="0" dirty="0">
              <a:solidFill>
                <a:srgbClr val="DCE5E8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defRPr sz="975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dirty="0" err="1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与</a:t>
            </a:r>
            <a:r>
              <a:rPr sz="975" b="0" dirty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 domain / block / stage / concern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4EAC9D-220F-4798-B7AF-A2D2356CBDC3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657350" cy="971550"/>
          </a:xfrm>
          <a:prstGeom prst="rect">
            <a:avLst/>
          </a:prstGeom>
          <a:solidFill>
            <a:srgbClr val="FFFFFF"/>
          </a:solidFill>
          <a:ln w="13335">
            <a:solidFill>
              <a:srgbClr val="C85B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D31D2A-BEFF-4A41-A0B5-3562FB1E4EFE}"/>
              </a:ext>
            </a:extLst>
          </p:cNvPr>
          <p:cNvSpPr>
            <a:spLocks noGrp="1"/>
          </p:cNvSpPr>
          <p:nvPr/>
        </p:nvSpPr>
        <p:spPr>
          <a:xfrm>
            <a:off x="914400" y="2505075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Source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869242-57CA-4F3B-A53B-434A584C5B5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390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原始资料、版本、owner、权限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DFD303-9CCC-4C1A-8AD6-185A605AFB3A}"/>
              </a:ext>
            </a:extLst>
          </p:cNvPr>
          <p:cNvSpPr>
            <a:spLocks noGrp="1"/>
          </p:cNvSpPr>
          <p:nvPr/>
        </p:nvSpPr>
        <p:spPr>
          <a:xfrm>
            <a:off x="3105150" y="2133600"/>
            <a:ext cx="1714500" cy="1028700"/>
          </a:xfrm>
          <a:prstGeom prst="rect">
            <a:avLst/>
          </a:prstGeom>
          <a:solidFill>
            <a:srgbClr val="FFFFFF"/>
          </a:solidFill>
          <a:ln w="1333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FC6A5F-BDF5-4B44-869C-B158881AA9AB}"/>
              </a:ext>
            </a:extLst>
          </p:cNvPr>
          <p:cNvSpPr>
            <a:spLocks noGrp="1"/>
          </p:cNvSpPr>
          <p:nvPr/>
        </p:nvSpPr>
        <p:spPr>
          <a:xfrm>
            <a:off x="3238500" y="225742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Rule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931F48-7E27-471B-89C1-8E062EE50C18}"/>
              </a:ext>
            </a:extLst>
          </p:cNvPr>
          <p:cNvSpPr>
            <a:spLocks noGrp="1"/>
          </p:cNvSpPr>
          <p:nvPr/>
        </p:nvSpPr>
        <p:spPr>
          <a:xfrm>
            <a:off x="3238500" y="2533650"/>
            <a:ext cx="1447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statement、condition、risk、status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29885A-A48F-4D75-8A0C-18BB042B70EE}"/>
              </a:ext>
            </a:extLst>
          </p:cNvPr>
          <p:cNvSpPr>
            <a:spLocks noGrp="1"/>
          </p:cNvSpPr>
          <p:nvPr/>
        </p:nvSpPr>
        <p:spPr>
          <a:xfrm>
            <a:off x="7372350" y="2133600"/>
            <a:ext cx="1714500" cy="1028700"/>
          </a:xfrm>
          <a:prstGeom prst="rect">
            <a:avLst/>
          </a:prstGeom>
          <a:solidFill>
            <a:srgbClr val="FFFFFF"/>
          </a:solidFill>
          <a:ln w="1333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C2A2C7-84E0-48B1-ABD5-BAB60843079C}"/>
              </a:ext>
            </a:extLst>
          </p:cNvPr>
          <p:cNvSpPr>
            <a:spLocks noGrp="1"/>
          </p:cNvSpPr>
          <p:nvPr/>
        </p:nvSpPr>
        <p:spPr>
          <a:xfrm>
            <a:off x="7505700" y="225742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Method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289F8E-6822-4AFD-ADA3-DAB3EEFD7223}"/>
              </a:ext>
            </a:extLst>
          </p:cNvPr>
          <p:cNvSpPr>
            <a:spLocks noGrp="1"/>
          </p:cNvSpPr>
          <p:nvPr/>
        </p:nvSpPr>
        <p:spPr>
          <a:xfrm>
            <a:off x="7505700" y="2533650"/>
            <a:ext cx="14478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use_when、tradeoff、limitation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605666-9CAB-4BA7-BB80-4D60270F8980}"/>
              </a:ext>
            </a:extLst>
          </p:cNvPr>
          <p:cNvSpPr>
            <a:spLocks noGrp="1"/>
          </p:cNvSpPr>
          <p:nvPr/>
        </p:nvSpPr>
        <p:spPr>
          <a:xfrm>
            <a:off x="9753600" y="2381250"/>
            <a:ext cx="1657350" cy="971550"/>
          </a:xfrm>
          <a:prstGeom prst="rect">
            <a:avLst/>
          </a:prstGeom>
          <a:solidFill>
            <a:srgbClr val="FFFFFF"/>
          </a:solidFill>
          <a:ln w="13335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1DFCDA-B1D8-47D2-9001-4800FF267006}"/>
              </a:ext>
            </a:extLst>
          </p:cNvPr>
          <p:cNvSpPr>
            <a:spLocks noGrp="1"/>
          </p:cNvSpPr>
          <p:nvPr/>
        </p:nvSpPr>
        <p:spPr>
          <a:xfrm>
            <a:off x="9886950" y="2505075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Case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F05CD5-5604-429E-8348-9EA18345CA67}"/>
              </a:ext>
            </a:extLst>
          </p:cNvPr>
          <p:cNvSpPr>
            <a:spLocks noGrp="1"/>
          </p:cNvSpPr>
          <p:nvPr/>
        </p:nvSpPr>
        <p:spPr>
          <a:xfrm>
            <a:off x="9886950" y="2781300"/>
            <a:ext cx="1390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symptom、root cause、resolution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8DE377-1A54-4A03-8DD8-59C057B7F05A}"/>
              </a:ext>
            </a:extLst>
          </p:cNvPr>
          <p:cNvSpPr>
            <a:spLocks noGrp="1"/>
          </p:cNvSpPr>
          <p:nvPr/>
        </p:nvSpPr>
        <p:spPr>
          <a:xfrm>
            <a:off x="3048000" y="4819650"/>
            <a:ext cx="1885950" cy="971550"/>
          </a:xfrm>
          <a:prstGeom prst="rect">
            <a:avLst/>
          </a:prstGeom>
          <a:solidFill>
            <a:srgbClr val="FFFFFF"/>
          </a:solidFill>
          <a:ln w="13335">
            <a:solidFill>
              <a:srgbClr val="477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E34637-4B3D-4F1B-B723-42940A9C793F}"/>
              </a:ext>
            </a:extLst>
          </p:cNvPr>
          <p:cNvSpPr>
            <a:spLocks noGrp="1"/>
          </p:cNvSpPr>
          <p:nvPr/>
        </p:nvSpPr>
        <p:spPr>
          <a:xfrm>
            <a:off x="3181350" y="49434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77A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77A5B"/>
                </a:solidFill>
                <a:latin typeface="PingFang SC"/>
                <a:ea typeface="PingFang SC"/>
                <a:cs typeface="PingFang SC"/>
              </a:rPr>
              <a:t>Checklist Item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8B66C4-5A58-4C4F-BADB-33FCEC851016}"/>
              </a:ext>
            </a:extLst>
          </p:cNvPr>
          <p:cNvSpPr>
            <a:spLocks noGrp="1"/>
          </p:cNvSpPr>
          <p:nvPr/>
        </p:nvSpPr>
        <p:spPr>
          <a:xfrm>
            <a:off x="3181350" y="5219700"/>
            <a:ext cx="1619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question、required evidence、severity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EB4853-F0C7-402D-91E8-BB8A77E19AD7}"/>
              </a:ext>
            </a:extLst>
          </p:cNvPr>
          <p:cNvSpPr>
            <a:spLocks noGrp="1"/>
          </p:cNvSpPr>
          <p:nvPr/>
        </p:nvSpPr>
        <p:spPr>
          <a:xfrm>
            <a:off x="7239000" y="4819650"/>
            <a:ext cx="1885950" cy="971550"/>
          </a:xfrm>
          <a:prstGeom prst="rect">
            <a:avLst/>
          </a:prstGeom>
          <a:solidFill>
            <a:srgbClr val="FFFFFF"/>
          </a:solidFill>
          <a:ln w="13335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15DC36-CE0C-45EA-A430-3C1969F5425E}"/>
              </a:ext>
            </a:extLst>
          </p:cNvPr>
          <p:cNvSpPr>
            <a:spLocks noGrp="1"/>
          </p:cNvSpPr>
          <p:nvPr/>
        </p:nvSpPr>
        <p:spPr>
          <a:xfrm>
            <a:off x="7372350" y="49434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Article Claim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044B4A2-9B1D-439D-9ADC-82223C2EB95E}"/>
              </a:ext>
            </a:extLst>
          </p:cNvPr>
          <p:cNvSpPr>
            <a:spLocks noGrp="1"/>
          </p:cNvSpPr>
          <p:nvPr/>
        </p:nvSpPr>
        <p:spPr>
          <a:xfrm>
            <a:off x="7372350" y="5219700"/>
            <a:ext cx="1619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claim type、condition、source location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A7E4E4-000E-40D6-8448-3874B5F74BE7}"/>
              </a:ext>
            </a:extLst>
          </p:cNvPr>
          <p:cNvSpPr>
            <a:spLocks noGrp="1"/>
          </p:cNvSpPr>
          <p:nvPr/>
        </p:nvSpPr>
        <p:spPr>
          <a:xfrm>
            <a:off x="2438400" y="2857500"/>
            <a:ext cx="2000250" cy="190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6934D8-BF8C-4AFA-9CC9-F592F95C7883}"/>
              </a:ext>
            </a:extLst>
          </p:cNvPr>
          <p:cNvSpPr>
            <a:spLocks noGrp="1"/>
          </p:cNvSpPr>
          <p:nvPr/>
        </p:nvSpPr>
        <p:spPr>
          <a:xfrm>
            <a:off x="7677150" y="2857500"/>
            <a:ext cx="2076450" cy="190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B68127C-A8AD-4A6A-A9C1-1D2C54F71618}"/>
              </a:ext>
            </a:extLst>
          </p:cNvPr>
          <p:cNvSpPr>
            <a:spLocks noGrp="1"/>
          </p:cNvSpPr>
          <p:nvPr/>
        </p:nvSpPr>
        <p:spPr>
          <a:xfrm>
            <a:off x="3962400" y="3162300"/>
            <a:ext cx="19050" cy="16573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4C1985E-A1D5-43F2-873B-D0E55C5EA308}"/>
              </a:ext>
            </a:extLst>
          </p:cNvPr>
          <p:cNvSpPr>
            <a:spLocks noGrp="1"/>
          </p:cNvSpPr>
          <p:nvPr/>
        </p:nvSpPr>
        <p:spPr>
          <a:xfrm>
            <a:off x="8229600" y="3162300"/>
            <a:ext cx="19050" cy="16573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1D7F2CA-F4C1-4B62-A957-86E1D62278C7}"/>
              </a:ext>
            </a:extLst>
          </p:cNvPr>
          <p:cNvSpPr>
            <a:spLocks noGrp="1"/>
          </p:cNvSpPr>
          <p:nvPr/>
        </p:nvSpPr>
        <p:spPr>
          <a:xfrm>
            <a:off x="4933950" y="5295900"/>
            <a:ext cx="2305050" cy="190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DFD7936-A18E-4FD0-AC71-FB847F5BEFE6}"/>
              </a:ext>
            </a:extLst>
          </p:cNvPr>
          <p:cNvSpPr>
            <a:spLocks noGrp="1"/>
          </p:cNvSpPr>
          <p:nvPr/>
        </p:nvSpPr>
        <p:spPr>
          <a:xfrm>
            <a:off x="9086850" y="5295900"/>
            <a:ext cx="1104900" cy="190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B147214-CBC2-4E1A-976E-5D990DCA2717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1657350" cy="895350"/>
          </a:xfrm>
          <a:prstGeom prst="rect">
            <a:avLst/>
          </a:prstGeom>
          <a:solidFill>
            <a:srgbClr val="DDEC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981EAD-A1EA-41BA-B5EC-4A5C8B43235B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回答格式由对象组合生成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2032CC4-07F3-4DD1-8F65-ECA0E8E6DB18}"/>
              </a:ext>
            </a:extLst>
          </p:cNvPr>
          <p:cNvSpPr>
            <a:spLocks noGrp="1"/>
          </p:cNvSpPr>
          <p:nvPr/>
        </p:nvSpPr>
        <p:spPr>
          <a:xfrm>
            <a:off x="1009650" y="5219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结论 / 方法 / 风险 / 案例 / checklist / 缺失信息 / 引用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374F44-6298-438E-BC79-6582A5E75F87}"/>
              </a:ext>
            </a:extLst>
          </p:cNvPr>
          <p:cNvSpPr>
            <a:spLocks noGrp="1"/>
          </p:cNvSpPr>
          <p:nvPr/>
        </p:nvSpPr>
        <p:spPr>
          <a:xfrm>
            <a:off x="9563100" y="4105275"/>
            <a:ext cx="76200" cy="762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23EE5A-58F0-425C-A018-3FC434AFE6C8}"/>
              </a:ext>
            </a:extLst>
          </p:cNvPr>
          <p:cNvSpPr>
            <a:spLocks noGrp="1"/>
          </p:cNvSpPr>
          <p:nvPr/>
        </p:nvSpPr>
        <p:spPr>
          <a:xfrm>
            <a:off x="9715500" y="40386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适用规则来自 Rule + Scenario 匹配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EB6AA39-81A5-428A-9979-425022D04421}"/>
              </a:ext>
            </a:extLst>
          </p:cNvPr>
          <p:cNvSpPr>
            <a:spLocks noGrp="1"/>
          </p:cNvSpPr>
          <p:nvPr/>
        </p:nvSpPr>
        <p:spPr>
          <a:xfrm>
            <a:off x="9563100" y="4371975"/>
            <a:ext cx="76200" cy="7620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EE8F15B-2B3C-4182-BAFD-AFCA54969D2D}"/>
              </a:ext>
            </a:extLst>
          </p:cNvPr>
          <p:cNvSpPr>
            <a:spLocks noGrp="1"/>
          </p:cNvSpPr>
          <p:nvPr/>
        </p:nvSpPr>
        <p:spPr>
          <a:xfrm>
            <a:off x="9715500" y="4305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相似案例来自 Case + context matching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768019F-BF36-43CC-90F9-832CA5612658}"/>
              </a:ext>
            </a:extLst>
          </p:cNvPr>
          <p:cNvSpPr>
            <a:spLocks noGrp="1"/>
          </p:cNvSpPr>
          <p:nvPr/>
        </p:nvSpPr>
        <p:spPr>
          <a:xfrm>
            <a:off x="9563100" y="4638675"/>
            <a:ext cx="76200" cy="762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EA2330F-1854-42B5-8EE5-5D07AB7225F8}"/>
              </a:ext>
            </a:extLst>
          </p:cNvPr>
          <p:cNvSpPr>
            <a:spLocks noGrp="1"/>
          </p:cNvSpPr>
          <p:nvPr/>
        </p:nvSpPr>
        <p:spPr>
          <a:xfrm>
            <a:off x="9715500" y="45720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文章推演必须标注 uncertainty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C51C9A1-DA7A-4941-B388-3DA53A1EA11E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300AD4-38A0-4228-9A7D-1CE9A20E55EE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5ADD166-B2D1-4E52-813D-CF297D4784C7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735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3B0A212A-D035-4558-BD05-2844534C7D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7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1444ED-350C-4D6A-978A-C1485A94A95F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403675-62A5-434E-A520-E71F348D0869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D3FC61-4A39-4F7E-AE6C-6EF1A2A578A8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USER EXPERIENCE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1F26EC-6D5F-43D5-A779-F6B5BD09D66B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三栏布局让问题、答案和证据链同时可见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17B06B-AC1B-46FA-B229-51B7FCB89864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推荐界面不是聊天窗口孤岛，而是工程场景、结构化答案和引用证据并排工作的产品面。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2777B9-D37C-48CA-9E07-D2DE890ADC3E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39433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7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447AC6-6011-424B-84A8-5E29421448E3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2095500" cy="3943350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315124-3877-41A6-BF3D-98F614613280}"/>
              </a:ext>
            </a:extLst>
          </p:cNvPr>
          <p:cNvSpPr>
            <a:spLocks noGrp="1"/>
          </p:cNvSpPr>
          <p:nvPr/>
        </p:nvSpPr>
        <p:spPr>
          <a:xfrm>
            <a:off x="2724150" y="1952625"/>
            <a:ext cx="5467350" cy="39433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9503A8-11BD-45BF-877E-C49B4967E6A4}"/>
              </a:ext>
            </a:extLst>
          </p:cNvPr>
          <p:cNvSpPr>
            <a:spLocks noGrp="1"/>
          </p:cNvSpPr>
          <p:nvPr/>
        </p:nvSpPr>
        <p:spPr>
          <a:xfrm>
            <a:off x="8191500" y="1952625"/>
            <a:ext cx="3371850" cy="394335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012D0D-E31F-4554-9FEC-7B92EDF469EB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Analog Packaging Knowhow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CD79B1-3BC3-47ED-AC2E-7E96993AD1B2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8382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C4AC8B-B3D5-47E4-86B5-5D766B349E6A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Sources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C752FF-D551-4E28-B9FA-DDB923601748}"/>
              </a:ext>
            </a:extLst>
          </p:cNvPr>
          <p:cNvSpPr>
            <a:spLocks noGrp="1"/>
          </p:cNvSpPr>
          <p:nvPr/>
        </p:nvSpPr>
        <p:spPr>
          <a:xfrm>
            <a:off x="857250" y="3028950"/>
            <a:ext cx="666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A5DC77-AEE2-46B6-BFD2-DA14301E9677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Rules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0A1908-78FE-408B-8EE4-FF6A5A0C49E3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666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BFBC37-D279-462B-89BA-65BD1BB55B54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Cases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2BA924-AB8D-46E2-9E68-1369A12948D7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8191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0D624-C8B8-4698-89A8-B876E2A1E538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628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Articles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5E1790-91EC-47DF-80B2-20FE3310C184}"/>
              </a:ext>
            </a:extLst>
          </p:cNvPr>
          <p:cNvSpPr>
            <a:spLocks noGrp="1"/>
          </p:cNvSpPr>
          <p:nvPr/>
        </p:nvSpPr>
        <p:spPr>
          <a:xfrm>
            <a:off x="857250" y="4438650"/>
            <a:ext cx="142875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8D3C9D-5DFA-4593-B26E-B4BBF87E4834}"/>
              </a:ext>
            </a:extLst>
          </p:cNvPr>
          <p:cNvSpPr>
            <a:spLocks noGrp="1"/>
          </p:cNvSpPr>
          <p:nvPr/>
        </p:nvSpPr>
        <p:spPr>
          <a:xfrm>
            <a:off x="876300" y="4610100"/>
            <a:ext cx="1428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Review Queue</a:t>
            </a:r>
          </a:p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Conflicts</a:t>
            </a:r>
          </a:p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Taxonomy</a:t>
            </a:r>
          </a:p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Analytics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B356B2-340A-437F-8362-65A0972F2298}"/>
              </a:ext>
            </a:extLst>
          </p:cNvPr>
          <p:cNvSpPr>
            <a:spLocks noGrp="1"/>
          </p:cNvSpPr>
          <p:nvPr/>
        </p:nvSpPr>
        <p:spPr>
          <a:xfrm>
            <a:off x="3048000" y="22098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Ask Knowhow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9B492E-D295-465D-866D-7DA820AD834F}"/>
              </a:ext>
            </a:extLst>
          </p:cNvPr>
          <p:cNvSpPr>
            <a:spLocks noGrp="1"/>
          </p:cNvSpPr>
          <p:nvPr/>
        </p:nvSpPr>
        <p:spPr>
          <a:xfrm>
            <a:off x="3048000" y="2609850"/>
            <a:ext cx="4762500" cy="552450"/>
          </a:xfrm>
          <a:prstGeom prst="rect">
            <a:avLst/>
          </a:prstGeom>
          <a:solidFill>
            <a:srgbClr val="F7F4EE"/>
          </a:solidFill>
          <a:ln w="9525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7F32D8-2571-4960-9E09-2B49DF511A59}"/>
              </a:ext>
            </a:extLst>
          </p:cNvPr>
          <p:cNvSpPr>
            <a:spLocks noGrp="1"/>
          </p:cNvSpPr>
          <p:nvPr/>
        </p:nvSpPr>
        <p:spPr>
          <a:xfrm>
            <a:off x="3219450" y="278130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低噪声模拟前端使用 wirebond 封装时，pin assignment 需要注意什么？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36DE2D-6A8C-4F0E-85EA-18A9EF094FF5}"/>
              </a:ext>
            </a:extLst>
          </p:cNvPr>
          <p:cNvSpPr>
            <a:spLocks noGrp="1"/>
          </p:cNvSpPr>
          <p:nvPr/>
        </p:nvSpPr>
        <p:spPr>
          <a:xfrm>
            <a:off x="3048000" y="34290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2B9D068-6ECB-4833-BF09-AA52949B9B0B}"/>
              </a:ext>
            </a:extLst>
          </p:cNvPr>
          <p:cNvSpPr>
            <a:spLocks noGrp="1"/>
          </p:cNvSpPr>
          <p:nvPr/>
        </p:nvSpPr>
        <p:spPr>
          <a:xfrm>
            <a:off x="3048000" y="3676650"/>
            <a:ext cx="4819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建议优先检查 sensitive analog pins、ground return path、package parasitic、ESD path 与高开关环路之间的耦合关系。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6AE21C-E18B-4FD2-85D2-EEEA4C9B06AD}"/>
              </a:ext>
            </a:extLst>
          </p:cNvPr>
          <p:cNvSpPr>
            <a:spLocks noGrp="1"/>
          </p:cNvSpPr>
          <p:nvPr/>
        </p:nvSpPr>
        <p:spPr>
          <a:xfrm>
            <a:off x="3048000" y="44005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生成 checklist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A581023-1E4E-4732-A996-0F9B84884312}"/>
              </a:ext>
            </a:extLst>
          </p:cNvPr>
          <p:cNvSpPr>
            <a:spLocks noGrp="1"/>
          </p:cNvSpPr>
          <p:nvPr/>
        </p:nvSpPr>
        <p:spPr>
          <a:xfrm>
            <a:off x="3048000" y="4648200"/>
            <a:ext cx="4819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1. 敏感输入 pin 是否远离 high-switching loop</a:t>
            </a:r>
          </a:p>
          <a:p>
            <a:pPr algn="l">
              <a:def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2. bondwire / return path 是否形成低阻抗路径</a:t>
            </a:r>
          </a:p>
          <a:p>
            <a:pPr algn="l">
              <a:def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3. ESD path 是否影响噪声和寄生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3F4F692-68F6-4F6C-A3A2-6477F593AC6E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2381250" cy="285750"/>
          </a:xfrm>
          <a:prstGeom prst="rect">
            <a:avLst/>
          </a:prstGeom>
          <a:solidFill>
            <a:srgbClr val="FFF7ED"/>
          </a:solidFill>
          <a:ln w="9525">
            <a:solidFill>
              <a:srgbClr val="C85B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958B53D-39B8-4044-A5FA-B68BCBE9DE48}"/>
              </a:ext>
            </a:extLst>
          </p:cNvPr>
          <p:cNvSpPr>
            <a:spLocks noGrp="1"/>
          </p:cNvSpPr>
          <p:nvPr/>
        </p:nvSpPr>
        <p:spPr>
          <a:xfrm>
            <a:off x="5029200" y="44577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缺失信息: package stack / board context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FD65D5C-D2E8-4C90-83FC-7E9592968BBA}"/>
              </a:ext>
            </a:extLst>
          </p:cNvPr>
          <p:cNvSpPr>
            <a:spLocks noGrp="1"/>
          </p:cNvSpPr>
          <p:nvPr/>
        </p:nvSpPr>
        <p:spPr>
          <a:xfrm>
            <a:off x="8515350" y="22098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Evidence Panel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EB270CE-15E4-42A1-ABFB-63B923C8DD0D}"/>
              </a:ext>
            </a:extLst>
          </p:cNvPr>
          <p:cNvSpPr>
            <a:spLocks noGrp="1"/>
          </p:cNvSpPr>
          <p:nvPr/>
        </p:nvSpPr>
        <p:spPr>
          <a:xfrm>
            <a:off x="8515350" y="2647950"/>
            <a:ext cx="26479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5819355-4DE0-4B44-BC24-7844CF2EC339}"/>
              </a:ext>
            </a:extLst>
          </p:cNvPr>
          <p:cNvSpPr>
            <a:spLocks noGrp="1"/>
          </p:cNvSpPr>
          <p:nvPr/>
        </p:nvSpPr>
        <p:spPr>
          <a:xfrm>
            <a:off x="8686800" y="278130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Rule PKG-017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25926D6-5811-4B00-9A57-69742FC4A5B8}"/>
              </a:ext>
            </a:extLst>
          </p:cNvPr>
          <p:cNvSpPr>
            <a:spLocks noGrp="1"/>
          </p:cNvSpPr>
          <p:nvPr/>
        </p:nvSpPr>
        <p:spPr>
          <a:xfrm>
            <a:off x="8686800" y="302895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Approved | package review | wirebond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C68C9F-0302-496C-B494-469F2A06D69B}"/>
              </a:ext>
            </a:extLst>
          </p:cNvPr>
          <p:cNvSpPr>
            <a:spLocks noGrp="1"/>
          </p:cNvSpPr>
          <p:nvPr/>
        </p:nvSpPr>
        <p:spPr>
          <a:xfrm>
            <a:off x="8686800" y="3238500"/>
            <a:ext cx="2152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Packaging guideline, section 3.2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092C90A-6A55-415D-A74C-0C4DDC8B9528}"/>
              </a:ext>
            </a:extLst>
          </p:cNvPr>
          <p:cNvSpPr>
            <a:spLocks noGrp="1"/>
          </p:cNvSpPr>
          <p:nvPr/>
        </p:nvSpPr>
        <p:spPr>
          <a:xfrm>
            <a:off x="8515350" y="3676650"/>
            <a:ext cx="26479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085AB03-966E-4455-9752-B81E8412515A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Case 2021-AFE-Noise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30982F9-FBDC-45F1-AB36-64AD53B0C6B3}"/>
              </a:ext>
            </a:extLst>
          </p:cNvPr>
          <p:cNvSpPr>
            <a:spLocks noGrp="1"/>
          </p:cNvSpPr>
          <p:nvPr/>
        </p:nvSpPr>
        <p:spPr>
          <a:xfrm>
            <a:off x="8686800" y="405765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Symptom: lab noise higher than sim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F5C23CE-05A5-4BCC-AA20-9DBB85B589D3}"/>
              </a:ext>
            </a:extLst>
          </p:cNvPr>
          <p:cNvSpPr>
            <a:spLocks noGrp="1"/>
          </p:cNvSpPr>
          <p:nvPr/>
        </p:nvSpPr>
        <p:spPr>
          <a:xfrm>
            <a:off x="8686800" y="4267200"/>
            <a:ext cx="2228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Root cause: coupling through package path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E46FFC3-0C71-47BB-8C60-7FA1DE37745A}"/>
              </a:ext>
            </a:extLst>
          </p:cNvPr>
          <p:cNvSpPr>
            <a:spLocks noGrp="1"/>
          </p:cNvSpPr>
          <p:nvPr/>
        </p:nvSpPr>
        <p:spPr>
          <a:xfrm>
            <a:off x="8515350" y="4705350"/>
            <a:ext cx="2647950" cy="800100"/>
          </a:xfrm>
          <a:prstGeom prst="rect">
            <a:avLst/>
          </a:prstGeom>
          <a:solidFill>
            <a:srgbClr val="FFF7ED"/>
          </a:solidFill>
          <a:ln w="952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9494A3E-5F84-4648-BBB9-F8114DB3E211}"/>
              </a:ext>
            </a:extLst>
          </p:cNvPr>
          <p:cNvSpPr>
            <a:spLocks noGrp="1"/>
          </p:cNvSpPr>
          <p:nvPr/>
        </p:nvSpPr>
        <p:spPr>
          <a:xfrm>
            <a:off x="8686800" y="48387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Uncertainty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989E7EE-1E68-40F6-B6AC-1B0F39A260E0}"/>
              </a:ext>
            </a:extLst>
          </p:cNvPr>
          <p:cNvSpPr>
            <a:spLocks noGrp="1"/>
          </p:cNvSpPr>
          <p:nvPr/>
        </p:nvSpPr>
        <p:spPr>
          <a:xfrm>
            <a:off x="8686800" y="5086350"/>
            <a:ext cx="2152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缺少 board/package/die 一致性资料，建议补充后再给 mandatory 判断。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1CD8741-3C9C-4EB9-8E16-159F875750F0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D95A76E-913D-48E0-99AE-936864C40715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A92429B-7038-45FF-9CF9-25D41C121A50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451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D0703F4E-75E9-49E0-B4EA-DCB0A62095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C4450D-E927-4B6C-8285-026E8032B123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DBB75E-3AC5-49BD-8406-B605B49AF654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53A05F-C18A-4CFE-A5E4-7D3904A43056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ARTICLE STUDIO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20FF36-E4D3-4111-8A16-34D697B27D82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新文章先被分层归因，再进入候选规则治理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1B1A31-E966-4890-9B54-6B0568F27CA2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Article Studio 的价值在于把“文章说了什么”和“它如何影响团队 knowhow”分清楚。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494CD2-8620-4739-9503-C62B46FD71E2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666750" cy="43815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6172DA-BB6C-41A5-9C4C-2342812AA251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4A72D9-C0D2-43AF-9DE8-25940733BA02}"/>
              </a:ext>
            </a:extLst>
          </p:cNvPr>
          <p:cNvSpPr>
            <a:spLocks noGrp="1"/>
          </p:cNvSpPr>
          <p:nvPr/>
        </p:nvSpPr>
        <p:spPr>
          <a:xfrm>
            <a:off x="1562100" y="2038350"/>
            <a:ext cx="30289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85B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A07E1E-8483-4C8B-801E-9C9DEC1C397B}"/>
              </a:ext>
            </a:extLst>
          </p:cNvPr>
          <p:cNvSpPr>
            <a:spLocks noGrp="1"/>
          </p:cNvSpPr>
          <p:nvPr/>
        </p:nvSpPr>
        <p:spPr>
          <a:xfrm>
            <a:off x="1733550" y="2152650"/>
            <a:ext cx="2686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文章直接证据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D5AD56-A135-4BCE-92DC-F9A5A7690D20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666750" cy="4381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5FA79A-7184-4B07-A272-1607F3AE1DF7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6B5A4E-B7FD-47AA-BFAB-006A95B76EF6}"/>
              </a:ext>
            </a:extLst>
          </p:cNvPr>
          <p:cNvSpPr>
            <a:spLocks noGrp="1"/>
          </p:cNvSpPr>
          <p:nvPr/>
        </p:nvSpPr>
        <p:spPr>
          <a:xfrm>
            <a:off x="1562100" y="2705100"/>
            <a:ext cx="30289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2248F5-C3B4-489E-A7F8-6A0DF682A874}"/>
              </a:ext>
            </a:extLst>
          </p:cNvPr>
          <p:cNvSpPr>
            <a:spLocks noGrp="1"/>
          </p:cNvSpPr>
          <p:nvPr/>
        </p:nvSpPr>
        <p:spPr>
          <a:xfrm>
            <a:off x="1733550" y="2819400"/>
            <a:ext cx="2686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文章内部解释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05630A-532E-412C-956B-CAB018ABF615}"/>
              </a:ext>
            </a:extLst>
          </p:cNvPr>
          <p:cNvSpPr>
            <a:spLocks noGrp="1"/>
          </p:cNvSpPr>
          <p:nvPr/>
        </p:nvSpPr>
        <p:spPr>
          <a:xfrm>
            <a:off x="762000" y="3371850"/>
            <a:ext cx="666750" cy="4381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FE36CC-6F65-4374-BD9B-69AABCE00822}"/>
              </a:ext>
            </a:extLst>
          </p:cNvPr>
          <p:cNvSpPr>
            <a:spLocks noGrp="1"/>
          </p:cNvSpPr>
          <p:nvPr/>
        </p:nvSpPr>
        <p:spPr>
          <a:xfrm>
            <a:off x="914400" y="346710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68C40D-94F2-4097-940A-18BA5C0CF146}"/>
              </a:ext>
            </a:extLst>
          </p:cNvPr>
          <p:cNvSpPr>
            <a:spLocks noGrp="1"/>
          </p:cNvSpPr>
          <p:nvPr/>
        </p:nvSpPr>
        <p:spPr>
          <a:xfrm>
            <a:off x="1562100" y="3371850"/>
            <a:ext cx="30289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F3F943-A9C2-4F1C-BA48-4F74F9C688A3}"/>
              </a:ext>
            </a:extLst>
          </p:cNvPr>
          <p:cNvSpPr>
            <a:spLocks noGrp="1"/>
          </p:cNvSpPr>
          <p:nvPr/>
        </p:nvSpPr>
        <p:spPr>
          <a:xfrm>
            <a:off x="1733550" y="3486150"/>
            <a:ext cx="2686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结合 notebook 的场景化推论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AF7EDA-FD19-4FAA-9B5B-10A6D3CE9BE4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666750" cy="43815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96FF3BB-1A0A-408A-8ECF-86CD85BCD6BF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816131-C1F4-4D63-A054-9961522EDDE0}"/>
              </a:ext>
            </a:extLst>
          </p:cNvPr>
          <p:cNvSpPr>
            <a:spLocks noGrp="1"/>
          </p:cNvSpPr>
          <p:nvPr/>
        </p:nvSpPr>
        <p:spPr>
          <a:xfrm>
            <a:off x="1562100" y="4038600"/>
            <a:ext cx="30289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395D1E-CD18-4E1B-AEA2-773C846940A8}"/>
              </a:ext>
            </a:extLst>
          </p:cNvPr>
          <p:cNvSpPr>
            <a:spLocks noGrp="1"/>
          </p:cNvSpPr>
          <p:nvPr/>
        </p:nvSpPr>
        <p:spPr>
          <a:xfrm>
            <a:off x="1733550" y="4152900"/>
            <a:ext cx="2686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面向用户场景的技术假设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F67D6C-BF99-4141-9BE2-23E883F3B497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666750" cy="438150"/>
          </a:xfrm>
          <a:prstGeom prst="rect">
            <a:avLst/>
          </a:prstGeom>
          <a:solidFill>
            <a:srgbClr val="47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3A1D09D-2AF2-478C-87DC-C1E700104B0D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0522568-34CB-45F6-AFF3-044DFC6305BD}"/>
              </a:ext>
            </a:extLst>
          </p:cNvPr>
          <p:cNvSpPr>
            <a:spLocks noGrp="1"/>
          </p:cNvSpPr>
          <p:nvPr/>
        </p:nvSpPr>
        <p:spPr>
          <a:xfrm>
            <a:off x="1562100" y="4705350"/>
            <a:ext cx="30289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477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5623EE-286D-4DB4-B3B0-D4B703534E45}"/>
              </a:ext>
            </a:extLst>
          </p:cNvPr>
          <p:cNvSpPr>
            <a:spLocks noGrp="1"/>
          </p:cNvSpPr>
          <p:nvPr/>
        </p:nvSpPr>
        <p:spPr>
          <a:xfrm>
            <a:off x="1733550" y="4819650"/>
            <a:ext cx="2686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研究方向或验证建议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FD2922-D5D5-4265-968D-ED42B8BE6376}"/>
              </a:ext>
            </a:extLst>
          </p:cNvPr>
          <p:cNvSpPr>
            <a:spLocks noGrp="1"/>
          </p:cNvSpPr>
          <p:nvPr/>
        </p:nvSpPr>
        <p:spPr>
          <a:xfrm>
            <a:off x="5257800" y="2114550"/>
            <a:ext cx="2571750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5841310-22A0-4489-9640-2BA9C135D4D7}"/>
              </a:ext>
            </a:extLst>
          </p:cNvPr>
          <p:cNvSpPr>
            <a:spLocks noGrp="1"/>
          </p:cNvSpPr>
          <p:nvPr/>
        </p:nvSpPr>
        <p:spPr>
          <a:xfrm>
            <a:off x="5257800" y="2114550"/>
            <a:ext cx="76200" cy="209550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A4CF8D-5B09-434E-97C8-0F25BDDA9956}"/>
              </a:ext>
            </a:extLst>
          </p:cNvPr>
          <p:cNvSpPr>
            <a:spLocks noGrp="1"/>
          </p:cNvSpPr>
          <p:nvPr/>
        </p:nvSpPr>
        <p:spPr>
          <a:xfrm>
            <a:off x="5467350" y="22669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Implication Map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1342D9C-8A58-4CD1-9858-1252FB483914}"/>
              </a:ext>
            </a:extLst>
          </p:cNvPr>
          <p:cNvSpPr>
            <a:spLocks noGrp="1"/>
          </p:cNvSpPr>
          <p:nvPr/>
        </p:nvSpPr>
        <p:spPr>
          <a:xfrm>
            <a:off x="5467350" y="2571750"/>
            <a:ext cx="22098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Article Claim A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  -&gt; supports Rule PKG-017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  -&gt; extends Method M-012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  -&gt; suggests Checklist C-031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  -&gt; creates Hypothesis H-004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9C7C364-D1E4-4193-929B-D60E53AD2C63}"/>
              </a:ext>
            </a:extLst>
          </p:cNvPr>
          <p:cNvSpPr>
            <a:spLocks noGrp="1"/>
          </p:cNvSpPr>
          <p:nvPr/>
        </p:nvSpPr>
        <p:spPr>
          <a:xfrm>
            <a:off x="8058150" y="2914650"/>
            <a:ext cx="266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F328D02-8388-4715-821C-04772FD1E132}"/>
              </a:ext>
            </a:extLst>
          </p:cNvPr>
          <p:cNvSpPr>
            <a:spLocks noGrp="1"/>
          </p:cNvSpPr>
          <p:nvPr/>
        </p:nvSpPr>
        <p:spPr>
          <a:xfrm>
            <a:off x="8572500" y="2114550"/>
            <a:ext cx="2476500" cy="2095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A3EFE29-D461-485F-92E4-23B534D6A4E0}"/>
              </a:ext>
            </a:extLst>
          </p:cNvPr>
          <p:cNvSpPr>
            <a:spLocks noGrp="1"/>
          </p:cNvSpPr>
          <p:nvPr/>
        </p:nvSpPr>
        <p:spPr>
          <a:xfrm>
            <a:off x="8572500" y="2114550"/>
            <a:ext cx="76200" cy="20955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F03D090-EB8A-4A87-9D76-8E1E391B45C2}"/>
              </a:ext>
            </a:extLst>
          </p:cNvPr>
          <p:cNvSpPr>
            <a:spLocks noGrp="1"/>
          </p:cNvSpPr>
          <p:nvPr/>
        </p:nvSpPr>
        <p:spPr>
          <a:xfrm>
            <a:off x="8782050" y="22669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Derived Rule Queue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3429512-DD29-412B-A50E-25F862000482}"/>
              </a:ext>
            </a:extLst>
          </p:cNvPr>
          <p:cNvSpPr>
            <a:spLocks noGrp="1"/>
          </p:cNvSpPr>
          <p:nvPr/>
        </p:nvSpPr>
        <p:spPr>
          <a:xfrm>
            <a:off x="8782050" y="2571750"/>
            <a:ext cx="21145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候选规则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适用场景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rationale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supporting claims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limitations</a:t>
            </a:r>
          </a:p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required reviewer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C7BD907-EF60-4D5A-9096-161B68E13D2F}"/>
              </a:ext>
            </a:extLst>
          </p:cNvPr>
          <p:cNvSpPr>
            <a:spLocks noGrp="1"/>
          </p:cNvSpPr>
          <p:nvPr/>
        </p:nvSpPr>
        <p:spPr>
          <a:xfrm>
            <a:off x="5257800" y="4667250"/>
            <a:ext cx="5791200" cy="6858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5C8DC77-A9B3-43A7-BC69-96DDD2512623}"/>
              </a:ext>
            </a:extLst>
          </p:cNvPr>
          <p:cNvSpPr>
            <a:spLocks noGrp="1"/>
          </p:cNvSpPr>
          <p:nvPr/>
        </p:nvSpPr>
        <p:spPr>
          <a:xfrm>
            <a:off x="5543550" y="4924425"/>
            <a:ext cx="857250" cy="28575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4C466B0-CAAA-4C0E-B438-0D0EF171E6E2}"/>
              </a:ext>
            </a:extLst>
          </p:cNvPr>
          <p:cNvSpPr>
            <a:spLocks noGrp="1"/>
          </p:cNvSpPr>
          <p:nvPr/>
        </p:nvSpPr>
        <p:spPr>
          <a:xfrm>
            <a:off x="6591300" y="48196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治理原则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1F85918-63D8-4D56-B28F-9E8AE6E6E513}"/>
              </a:ext>
            </a:extLst>
          </p:cNvPr>
          <p:cNvSpPr>
            <a:spLocks noGrp="1"/>
          </p:cNvSpPr>
          <p:nvPr/>
        </p:nvSpPr>
        <p:spPr>
          <a:xfrm>
            <a:off x="6591300" y="506730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文章推演可以生成候选规则，但进入正式规则库前必须经过 packaging owner / domain expert 审核。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684AACE-5BC7-41C2-AE28-EE5A8C9294BD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0BE659B-782C-4029-A2A1-2CC1BC9FEEC7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1F58012-1752-4B15-BCC4-94D18F6F273D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5993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D52DD36F-F57D-4562-A466-1F4B8D97CA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BA9E55-6F5F-4D45-8E9E-64062070C97C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C5455D-389B-4196-A290-B0A750EC7185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BD9358-847D-456D-B944-D267D2505253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ARCHITECTURE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08790F-00FB-4805-859A-73EB9BC840CC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Hybrid retrieval 加结构化规则匹配，保证回答可追溯、可过滤、可验证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6448ED-D650-405D-B8B7-37487873FD13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架构需要同时处理非结构化文档、结构化规则库、场景 ontology 和 citation validation。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46E893-7822-4A95-B7BC-67080D7E30AC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6477000" cy="647700"/>
          </a:xfrm>
          <a:prstGeom prst="rect">
            <a:avLst/>
          </a:prstGeom>
          <a:solidFill>
            <a:srgbClr val="FFFFFF"/>
          </a:solidFill>
          <a:ln w="11430">
            <a:solidFill>
              <a:srgbClr val="C85B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66946A-A787-4414-959F-FDC84107303C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85725" cy="64770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E1EB32-D636-4EA9-9C85-A5BFB0B65660}"/>
              </a:ext>
            </a:extLst>
          </p:cNvPr>
          <p:cNvSpPr>
            <a:spLocks noGrp="1"/>
          </p:cNvSpPr>
          <p:nvPr/>
        </p:nvSpPr>
        <p:spPr>
          <a:xfrm>
            <a:off x="914400" y="202882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Data Sources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FFA6D9-5BEF-4E7B-9793-F89EA8A5A975}"/>
              </a:ext>
            </a:extLst>
          </p:cNvPr>
          <p:cNvSpPr>
            <a:spLocks noGrp="1"/>
          </p:cNvSpPr>
          <p:nvPr/>
        </p:nvSpPr>
        <p:spPr>
          <a:xfrm>
            <a:off x="2571750" y="2028825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Uploaded docs, internal wiki/review/debug/guideline, articles, future connectors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71DA51-AEFA-4C29-9332-909186BAF2FC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477000" cy="647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BF4F45-7F63-43FE-95C3-0E5DA6BE04ED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85725" cy="6477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0C67BA-862F-4DCD-841D-FB5DB6369B25}"/>
              </a:ext>
            </a:extLst>
          </p:cNvPr>
          <p:cNvSpPr>
            <a:spLocks noGrp="1"/>
          </p:cNvSpPr>
          <p:nvPr/>
        </p:nvSpPr>
        <p:spPr>
          <a:xfrm>
            <a:off x="914400" y="28098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Ingestion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743EEC-B124-4DAA-AAA1-29F55371AC0C}"/>
              </a:ext>
            </a:extLst>
          </p:cNvPr>
          <p:cNvSpPr>
            <a:spLocks noGrp="1"/>
          </p:cNvSpPr>
          <p:nvPr/>
        </p:nvSpPr>
        <p:spPr>
          <a:xfrm>
            <a:off x="2571750" y="2809875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Document parser, table/parser, rule/method/case/checklist extractors, citation mapper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296E9C-F708-4781-9CDC-8B6B04684FD9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6477000" cy="647700"/>
          </a:xfrm>
          <a:prstGeom prst="rect">
            <a:avLst/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83BF6D-13E3-47F1-BF5F-533A93683DFC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85725" cy="6477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DE8A74-14F0-4F6C-B738-F8221F83384C}"/>
              </a:ext>
            </a:extLst>
          </p:cNvPr>
          <p:cNvSpPr>
            <a:spLocks noGrp="1"/>
          </p:cNvSpPr>
          <p:nvPr/>
        </p:nvSpPr>
        <p:spPr>
          <a:xfrm>
            <a:off x="914400" y="359092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Knowledge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CBE7A7-5ADC-42B0-B65B-AB9E6A1CF1D0}"/>
              </a:ext>
            </a:extLst>
          </p:cNvPr>
          <p:cNvSpPr>
            <a:spLocks noGrp="1"/>
          </p:cNvSpPr>
          <p:nvPr/>
        </p:nvSpPr>
        <p:spPr>
          <a:xfrm>
            <a:off x="2571750" y="3590925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Vector index, BM25, structured rule DB, scenario ontology, evidence store, knowledge graph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657DBE-9DCE-4C4B-8E32-73FBC524C22B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6477000" cy="647700"/>
          </a:xfrm>
          <a:prstGeom prst="rect">
            <a:avLst/>
          </a:prstGeom>
          <a:solidFill>
            <a:srgbClr val="FFFFFF"/>
          </a:solidFill>
          <a:ln w="11430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5DDD077-846D-4914-A32E-8835B6139D25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85725" cy="64770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E3BF00-5FED-4DF1-86E7-59641BA96D64}"/>
              </a:ext>
            </a:extLst>
          </p:cNvPr>
          <p:cNvSpPr>
            <a:spLocks noGrp="1"/>
          </p:cNvSpPr>
          <p:nvPr/>
        </p:nvSpPr>
        <p:spPr>
          <a:xfrm>
            <a:off x="914400" y="43719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Reasoning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7E990E-4E76-4800-A58D-F6BFAA951E71}"/>
              </a:ext>
            </a:extLst>
          </p:cNvPr>
          <p:cNvSpPr>
            <a:spLocks noGrp="1"/>
          </p:cNvSpPr>
          <p:nvPr/>
        </p:nvSpPr>
        <p:spPr>
          <a:xfrm>
            <a:off x="2571750" y="4371975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Scenario understanding, rule matching, case matching, conflict detection, article implication engine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74E0CF-BAB8-46DE-ACDE-FDEEE2037EDF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6477000" cy="647700"/>
          </a:xfrm>
          <a:prstGeom prst="rect">
            <a:avLst/>
          </a:prstGeom>
          <a:solidFill>
            <a:srgbClr val="FFFFFF"/>
          </a:solidFill>
          <a:ln w="11430">
            <a:solidFill>
              <a:srgbClr val="477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DDCA7E-BFF4-4C48-ACD9-D25CC67A7E89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85725" cy="647700"/>
          </a:xfrm>
          <a:prstGeom prst="rect">
            <a:avLst/>
          </a:prstGeom>
          <a:solidFill>
            <a:srgbClr val="47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18B495-B63B-40F1-B155-C5C49A955868}"/>
              </a:ext>
            </a:extLst>
          </p:cNvPr>
          <p:cNvSpPr>
            <a:spLocks noGrp="1"/>
          </p:cNvSpPr>
          <p:nvPr/>
        </p:nvSpPr>
        <p:spPr>
          <a:xfrm>
            <a:off x="914400" y="515302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7A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77A5B"/>
                </a:solidFill>
                <a:latin typeface="PingFang SC"/>
                <a:ea typeface="PingFang SC"/>
                <a:cs typeface="PingFang SC"/>
              </a:rPr>
              <a:t>Application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7B5D886-0387-4659-A988-9E7D6D2FA59A}"/>
              </a:ext>
            </a:extLst>
          </p:cNvPr>
          <p:cNvSpPr>
            <a:spLocks noGrp="1"/>
          </p:cNvSpPr>
          <p:nvPr/>
        </p:nvSpPr>
        <p:spPr>
          <a:xfrm>
            <a:off x="2571750" y="5153025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Notebook creation, Builder view, Ask view, Rule browser, Review mode, Article Studio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218488-9FFD-4323-9F7D-D46A65ED419B}"/>
              </a:ext>
            </a:extLst>
          </p:cNvPr>
          <p:cNvSpPr>
            <a:spLocks noGrp="1"/>
          </p:cNvSpPr>
          <p:nvPr/>
        </p:nvSpPr>
        <p:spPr>
          <a:xfrm>
            <a:off x="7658100" y="1885950"/>
            <a:ext cx="3524250" cy="37719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6F6865D-CE82-4791-A9C4-B2759416BD71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Retrieval strategy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B146E3-1984-4082-8069-2E70E5A3E293}"/>
              </a:ext>
            </a:extLst>
          </p:cNvPr>
          <p:cNvSpPr>
            <a:spLocks noGrp="1"/>
          </p:cNvSpPr>
          <p:nvPr/>
        </p:nvSpPr>
        <p:spPr>
          <a:xfrm>
            <a:off x="7943850" y="2495550"/>
            <a:ext cx="704850" cy="381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E10A3D7-7640-49C3-B5FA-F4E13D1EDB82}"/>
              </a:ext>
            </a:extLst>
          </p:cNvPr>
          <p:cNvSpPr>
            <a:spLocks noGrp="1"/>
          </p:cNvSpPr>
          <p:nvPr/>
        </p:nvSpPr>
        <p:spPr>
          <a:xfrm>
            <a:off x="7943850" y="2781300"/>
            <a:ext cx="228600" cy="22860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AC3F34B-4ED3-4E52-A965-49032E823DD2}"/>
              </a:ext>
            </a:extLst>
          </p:cNvPr>
          <p:cNvSpPr>
            <a:spLocks noGrp="1"/>
          </p:cNvSpPr>
          <p:nvPr/>
        </p:nvSpPr>
        <p:spPr>
          <a:xfrm>
            <a:off x="7943850" y="2809875"/>
            <a:ext cx="228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C36AFB-EB42-41D3-9EFA-129BE8EB0CA7}"/>
              </a:ext>
            </a:extLst>
          </p:cNvPr>
          <p:cNvSpPr>
            <a:spLocks noGrp="1"/>
          </p:cNvSpPr>
          <p:nvPr/>
        </p:nvSpPr>
        <p:spPr>
          <a:xfrm>
            <a:off x="8305800" y="2781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Keyword / BM25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214C5A-6238-409E-851D-8A41D890550B}"/>
              </a:ext>
            </a:extLst>
          </p:cNvPr>
          <p:cNvSpPr>
            <a:spLocks noGrp="1"/>
          </p:cNvSpPr>
          <p:nvPr/>
        </p:nvSpPr>
        <p:spPr>
          <a:xfrm>
            <a:off x="7943850" y="3105150"/>
            <a:ext cx="228600" cy="2286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769561F-025C-4DEF-BDB2-5FBF654BB335}"/>
              </a:ext>
            </a:extLst>
          </p:cNvPr>
          <p:cNvSpPr>
            <a:spLocks noGrp="1"/>
          </p:cNvSpPr>
          <p:nvPr/>
        </p:nvSpPr>
        <p:spPr>
          <a:xfrm>
            <a:off x="7943850" y="3133725"/>
            <a:ext cx="228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F3E9DA6-AA3E-4546-9DD6-8AB986C54D43}"/>
              </a:ext>
            </a:extLst>
          </p:cNvPr>
          <p:cNvSpPr>
            <a:spLocks noGrp="1"/>
          </p:cNvSpPr>
          <p:nvPr/>
        </p:nvSpPr>
        <p:spPr>
          <a:xfrm>
            <a:off x="8305800" y="31051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Vector search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2020E61-2B5F-4454-A63F-6C67F4E8421B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228600" cy="2286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3691E0F-389F-4CCF-81CB-D0F7E452F384}"/>
              </a:ext>
            </a:extLst>
          </p:cNvPr>
          <p:cNvSpPr>
            <a:spLocks noGrp="1"/>
          </p:cNvSpPr>
          <p:nvPr/>
        </p:nvSpPr>
        <p:spPr>
          <a:xfrm>
            <a:off x="7943850" y="3457575"/>
            <a:ext cx="228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75D7BCD-0602-4533-B47C-FBBDFCADC07A}"/>
              </a:ext>
            </a:extLst>
          </p:cNvPr>
          <p:cNvSpPr>
            <a:spLocks noGrp="1"/>
          </p:cNvSpPr>
          <p:nvPr/>
        </p:nvSpPr>
        <p:spPr>
          <a:xfrm>
            <a:off x="8305800" y="34290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Metadata filter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99BC3AE-9871-49E5-81C0-45DC52CB059B}"/>
              </a:ext>
            </a:extLst>
          </p:cNvPr>
          <p:cNvSpPr>
            <a:spLocks noGrp="1"/>
          </p:cNvSpPr>
          <p:nvPr/>
        </p:nvSpPr>
        <p:spPr>
          <a:xfrm>
            <a:off x="7943850" y="3752850"/>
            <a:ext cx="228600" cy="22860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E4ADD66-C0C0-4574-A41C-A7B07A068BDB}"/>
              </a:ext>
            </a:extLst>
          </p:cNvPr>
          <p:cNvSpPr>
            <a:spLocks noGrp="1"/>
          </p:cNvSpPr>
          <p:nvPr/>
        </p:nvSpPr>
        <p:spPr>
          <a:xfrm>
            <a:off x="7943850" y="3781425"/>
            <a:ext cx="228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C0306AC-546F-427A-9CDA-888B4DA1FE74}"/>
              </a:ext>
            </a:extLst>
          </p:cNvPr>
          <p:cNvSpPr>
            <a:spLocks noGrp="1"/>
          </p:cNvSpPr>
          <p:nvPr/>
        </p:nvSpPr>
        <p:spPr>
          <a:xfrm>
            <a:off x="8305800" y="37528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Structured rule matching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2970EB0-CE1B-446E-A8EF-80AA32610352}"/>
              </a:ext>
            </a:extLst>
          </p:cNvPr>
          <p:cNvSpPr>
            <a:spLocks noGrp="1"/>
          </p:cNvSpPr>
          <p:nvPr/>
        </p:nvSpPr>
        <p:spPr>
          <a:xfrm>
            <a:off x="7943850" y="4076700"/>
            <a:ext cx="228600" cy="228600"/>
          </a:xfrm>
          <a:prstGeom prst="rect">
            <a:avLst/>
          </a:prstGeom>
          <a:solidFill>
            <a:srgbClr val="47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2FF8094-DA2E-42FF-9835-364374E39944}"/>
              </a:ext>
            </a:extLst>
          </p:cNvPr>
          <p:cNvSpPr>
            <a:spLocks noGrp="1"/>
          </p:cNvSpPr>
          <p:nvPr/>
        </p:nvSpPr>
        <p:spPr>
          <a:xfrm>
            <a:off x="7943850" y="4105275"/>
            <a:ext cx="228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5815BAA-5753-46AC-95A1-93CF0063DEDE}"/>
              </a:ext>
            </a:extLst>
          </p:cNvPr>
          <p:cNvSpPr>
            <a:spLocks noGrp="1"/>
          </p:cNvSpPr>
          <p:nvPr/>
        </p:nvSpPr>
        <p:spPr>
          <a:xfrm>
            <a:off x="8305800" y="4076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Case similarity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CFFE814-2D88-4ABC-B6B6-7FAC3A85DED4}"/>
              </a:ext>
            </a:extLst>
          </p:cNvPr>
          <p:cNvSpPr>
            <a:spLocks noGrp="1"/>
          </p:cNvSpPr>
          <p:nvPr/>
        </p:nvSpPr>
        <p:spPr>
          <a:xfrm>
            <a:off x="7943850" y="4400550"/>
            <a:ext cx="228600" cy="2286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02C056C-988D-4404-B483-3C1D75D3D6A8}"/>
              </a:ext>
            </a:extLst>
          </p:cNvPr>
          <p:cNvSpPr>
            <a:spLocks noGrp="1"/>
          </p:cNvSpPr>
          <p:nvPr/>
        </p:nvSpPr>
        <p:spPr>
          <a:xfrm>
            <a:off x="7943850" y="4429125"/>
            <a:ext cx="228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1CE31CD-0CAE-4652-82E5-120469A34F77}"/>
              </a:ext>
            </a:extLst>
          </p:cNvPr>
          <p:cNvSpPr>
            <a:spLocks noGrp="1"/>
          </p:cNvSpPr>
          <p:nvPr/>
        </p:nvSpPr>
        <p:spPr>
          <a:xfrm>
            <a:off x="8305800" y="44005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Knowledge graph traversal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1C05AAA-F135-4B7E-80D1-F000E443131E}"/>
              </a:ext>
            </a:extLst>
          </p:cNvPr>
          <p:cNvSpPr>
            <a:spLocks noGrp="1"/>
          </p:cNvSpPr>
          <p:nvPr/>
        </p:nvSpPr>
        <p:spPr>
          <a:xfrm>
            <a:off x="7943850" y="4724400"/>
            <a:ext cx="228600" cy="2286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4AD6521-E441-4A3E-9C7B-0F9B92EDE569}"/>
              </a:ext>
            </a:extLst>
          </p:cNvPr>
          <p:cNvSpPr>
            <a:spLocks noGrp="1"/>
          </p:cNvSpPr>
          <p:nvPr/>
        </p:nvSpPr>
        <p:spPr>
          <a:xfrm>
            <a:off x="7943850" y="4752975"/>
            <a:ext cx="228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19A7B3E-E22C-45B3-BD36-662263B069F4}"/>
              </a:ext>
            </a:extLst>
          </p:cNvPr>
          <p:cNvSpPr>
            <a:spLocks noGrp="1"/>
          </p:cNvSpPr>
          <p:nvPr/>
        </p:nvSpPr>
        <p:spPr>
          <a:xfrm>
            <a:off x="8305800" y="47244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Reranking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A243912-141A-4422-9BEC-4EB4CBBD6BF5}"/>
              </a:ext>
            </a:extLst>
          </p:cNvPr>
          <p:cNvSpPr>
            <a:spLocks noGrp="1"/>
          </p:cNvSpPr>
          <p:nvPr/>
        </p:nvSpPr>
        <p:spPr>
          <a:xfrm>
            <a:off x="7943850" y="5048250"/>
            <a:ext cx="228600" cy="22860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ACDD3E6-AD18-49F1-B86A-9E74A7171BFC}"/>
              </a:ext>
            </a:extLst>
          </p:cNvPr>
          <p:cNvSpPr>
            <a:spLocks noGrp="1"/>
          </p:cNvSpPr>
          <p:nvPr/>
        </p:nvSpPr>
        <p:spPr>
          <a:xfrm>
            <a:off x="7943850" y="5076825"/>
            <a:ext cx="228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77A0375-61BA-453D-BC38-1B997795EF7F}"/>
              </a:ext>
            </a:extLst>
          </p:cNvPr>
          <p:cNvSpPr>
            <a:spLocks noGrp="1"/>
          </p:cNvSpPr>
          <p:nvPr/>
        </p:nvSpPr>
        <p:spPr>
          <a:xfrm>
            <a:off x="8305800" y="50482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Citation validation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9C80033-C188-43EF-939E-39C391DA3F54}"/>
              </a:ext>
            </a:extLst>
          </p:cNvPr>
          <p:cNvSpPr>
            <a:spLocks noGrp="1"/>
          </p:cNvSpPr>
          <p:nvPr/>
        </p:nvSpPr>
        <p:spPr>
          <a:xfrm>
            <a:off x="9144000" y="5257800"/>
            <a:ext cx="628650" cy="285750"/>
          </a:xfrm>
          <a:prstGeom prst="rect">
            <a:avLst/>
          </a:prstGeom>
          <a:solidFill>
            <a:srgbClr val="26354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5381A14-5551-4022-89C0-F9FB6B580177}"/>
              </a:ext>
            </a:extLst>
          </p:cNvPr>
          <p:cNvSpPr>
            <a:spLocks noGrp="1"/>
          </p:cNvSpPr>
          <p:nvPr/>
        </p:nvSpPr>
        <p:spPr>
          <a:xfrm>
            <a:off x="9239250" y="53149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RBAC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7E89B1E-3063-43EB-A327-C6E1F3223B2A}"/>
              </a:ext>
            </a:extLst>
          </p:cNvPr>
          <p:cNvSpPr>
            <a:spLocks noGrp="1"/>
          </p:cNvSpPr>
          <p:nvPr/>
        </p:nvSpPr>
        <p:spPr>
          <a:xfrm>
            <a:off x="9886950" y="5257800"/>
            <a:ext cx="876300" cy="285750"/>
          </a:xfrm>
          <a:prstGeom prst="rect">
            <a:avLst/>
          </a:prstGeom>
          <a:solidFill>
            <a:srgbClr val="26354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BD910FB-6281-45BD-B3E8-FA33D1DEFE2A}"/>
              </a:ext>
            </a:extLst>
          </p:cNvPr>
          <p:cNvSpPr>
            <a:spLocks noGrp="1"/>
          </p:cNvSpPr>
          <p:nvPr/>
        </p:nvSpPr>
        <p:spPr>
          <a:xfrm>
            <a:off x="9982200" y="53149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Audit log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CA06193-EB8B-449E-9370-E424160453DF}"/>
              </a:ext>
            </a:extLst>
          </p:cNvPr>
          <p:cNvSpPr>
            <a:spLocks noGrp="1"/>
          </p:cNvSpPr>
          <p:nvPr/>
        </p:nvSpPr>
        <p:spPr>
          <a:xfrm>
            <a:off x="7943850" y="5886450"/>
            <a:ext cx="3028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B8C2C8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8C2C8"/>
                </a:solidFill>
                <a:latin typeface="PingFang SC"/>
                <a:ea typeface="PingFang SC"/>
                <a:cs typeface="PingFang SC"/>
              </a:rPr>
              <a:t>Governance sits across every layer: source-level permission, tenant isolation, version control, approval workflow.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3C3141B-C761-4D6A-B985-43EB2B72D127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D5AE6C3-1AAE-424A-8048-6610578C806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4CFBFB6-12FB-4EAD-B2D8-D3D7F77E904E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611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ADE64A72-524B-4E91-86ED-99FD087ECF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C981B5-8C85-4179-8C48-31A11EA4C6B0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04040D-92A4-4434-93B1-373DAB04F630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6537FA-3288-4CEB-841E-3074E50500FE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MVP ROADMAP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78F94D-0D09-407C-BBDA-7331E605794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MVP 先跑通 Analog Packaging demo，再进入治理、文章推演和 review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B1ADF0-0295-4633-AE1C-725C8ED050CF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路线按产品闭环推进：先让团队能创建 notebook、上传资料、抽取规则，并基于场景问答与生成 checklist。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CBEFBC-8A36-473D-80D0-A29985890C57}"/>
              </a:ext>
            </a:extLst>
          </p:cNvPr>
          <p:cNvSpPr>
            <a:spLocks noGrp="1"/>
          </p:cNvSpPr>
          <p:nvPr/>
        </p:nvSpPr>
        <p:spPr>
          <a:xfrm>
            <a:off x="1104900" y="2771775"/>
            <a:ext cx="9563100" cy="2857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31CFC0-AE81-4465-909C-E93FEC4E756A}"/>
              </a:ext>
            </a:extLst>
          </p:cNvPr>
          <p:cNvSpPr>
            <a:spLocks noGrp="1"/>
          </p:cNvSpPr>
          <p:nvPr/>
        </p:nvSpPr>
        <p:spPr>
          <a:xfrm>
            <a:off x="1123950" y="2571750"/>
            <a:ext cx="800100" cy="400050"/>
          </a:xfrm>
          <a:prstGeom prst="rect">
            <a:avLst/>
          </a:prstGeom>
          <a:solidFill>
            <a:srgbClr val="C85B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88DB22-892C-43C6-946F-93F98E5C184A}"/>
              </a:ext>
            </a:extLst>
          </p:cNvPr>
          <p:cNvSpPr>
            <a:spLocks noGrp="1"/>
          </p:cNvSpPr>
          <p:nvPr/>
        </p:nvSpPr>
        <p:spPr>
          <a:xfrm>
            <a:off x="1238250" y="26670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v0.1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42DF52-40B4-490D-8E00-08EAD0EE7C0B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1809750" cy="1466850"/>
          </a:xfrm>
          <a:prstGeom prst="rect">
            <a:avLst/>
          </a:prstGeom>
          <a:solidFill>
            <a:srgbClr val="FFFFFF"/>
          </a:solidFill>
          <a:ln w="11430">
            <a:solidFill>
              <a:srgbClr val="C85B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08F9D2-F87F-4B8D-A447-69BD37292ABD}"/>
              </a:ext>
            </a:extLst>
          </p:cNvPr>
          <p:cNvSpPr>
            <a:spLocks noGrp="1"/>
          </p:cNvSpPr>
          <p:nvPr/>
        </p:nvSpPr>
        <p:spPr>
          <a:xfrm>
            <a:off x="1123950" y="337185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Knowhow MVP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EA1B2D-F829-41A3-A45A-9B1788C8A82C}"/>
              </a:ext>
            </a:extLst>
          </p:cNvPr>
          <p:cNvSpPr>
            <a:spLocks noGrp="1"/>
          </p:cNvSpPr>
          <p:nvPr/>
        </p:nvSpPr>
        <p:spPr>
          <a:xfrm>
            <a:off x="1123950" y="373380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创建 notebook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上传 sources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抽取 rule/method/risk/checklist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Ask + Scenario + Citation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2211F-8E94-4493-A2CF-FE8ADB79B44F}"/>
              </a:ext>
            </a:extLst>
          </p:cNvPr>
          <p:cNvSpPr>
            <a:spLocks noGrp="1"/>
          </p:cNvSpPr>
          <p:nvPr/>
        </p:nvSpPr>
        <p:spPr>
          <a:xfrm>
            <a:off x="3524250" y="2571750"/>
            <a:ext cx="800100" cy="4000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4A9E6E-941E-433A-867D-33B007F44556}"/>
              </a:ext>
            </a:extLst>
          </p:cNvPr>
          <p:cNvSpPr>
            <a:spLocks noGrp="1"/>
          </p:cNvSpPr>
          <p:nvPr/>
        </p:nvSpPr>
        <p:spPr>
          <a:xfrm>
            <a:off x="3638550" y="26670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v0.2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093C39-3251-4197-B972-E140B66F0CF9}"/>
              </a:ext>
            </a:extLst>
          </p:cNvPr>
          <p:cNvSpPr>
            <a:spLocks noGrp="1"/>
          </p:cNvSpPr>
          <p:nvPr/>
        </p:nvSpPr>
        <p:spPr>
          <a:xfrm>
            <a:off x="3352800" y="3181350"/>
            <a:ext cx="1809750" cy="1466850"/>
          </a:xfrm>
          <a:prstGeom prst="rect">
            <a:avLst/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47507D-BE0D-4F28-98E6-2C29563A3155}"/>
              </a:ext>
            </a:extLst>
          </p:cNvPr>
          <p:cNvSpPr>
            <a:spLocks noGrp="1"/>
          </p:cNvSpPr>
          <p:nvPr/>
        </p:nvSpPr>
        <p:spPr>
          <a:xfrm>
            <a:off x="3524250" y="337185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Rule Curation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984635-5EB8-4260-A1BB-A1D1CF84DECC}"/>
              </a:ext>
            </a:extLst>
          </p:cNvPr>
          <p:cNvSpPr>
            <a:spLocks noGrp="1"/>
          </p:cNvSpPr>
          <p:nvPr/>
        </p:nvSpPr>
        <p:spPr>
          <a:xfrm>
            <a:off x="3524250" y="373380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Rule card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状态/owner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重复合并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冲突检测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publish workflow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82E298-7E2A-45CC-A271-6AA120783F3B}"/>
              </a:ext>
            </a:extLst>
          </p:cNvPr>
          <p:cNvSpPr>
            <a:spLocks noGrp="1"/>
          </p:cNvSpPr>
          <p:nvPr/>
        </p:nvSpPr>
        <p:spPr>
          <a:xfrm>
            <a:off x="5924550" y="2571750"/>
            <a:ext cx="800100" cy="400050"/>
          </a:xfrm>
          <a:prstGeom prst="rect">
            <a:avLst/>
          </a:prstGeom>
          <a:solidFill>
            <a:srgbClr val="4C3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9B34F3-1A14-4F8A-80B1-EA02E618E026}"/>
              </a:ext>
            </a:extLst>
          </p:cNvPr>
          <p:cNvSpPr>
            <a:spLocks noGrp="1"/>
          </p:cNvSpPr>
          <p:nvPr/>
        </p:nvSpPr>
        <p:spPr>
          <a:xfrm>
            <a:off x="6038850" y="26670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v0.3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A6A717-A1A0-429C-A9F4-D8F0AD354C8F}"/>
              </a:ext>
            </a:extLst>
          </p:cNvPr>
          <p:cNvSpPr>
            <a:spLocks noGrp="1"/>
          </p:cNvSpPr>
          <p:nvPr/>
        </p:nvSpPr>
        <p:spPr>
          <a:xfrm>
            <a:off x="5753100" y="3181350"/>
            <a:ext cx="1809750" cy="1466850"/>
          </a:xfrm>
          <a:prstGeom prst="rect">
            <a:avLst/>
          </a:prstGeom>
          <a:solidFill>
            <a:srgbClr val="FFFFFF"/>
          </a:solidFill>
          <a:ln w="11430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E4661E-297B-4FDC-BBE1-7D689CEC1D0F}"/>
              </a:ext>
            </a:extLst>
          </p:cNvPr>
          <p:cNvSpPr>
            <a:spLocks noGrp="1"/>
          </p:cNvSpPr>
          <p:nvPr/>
        </p:nvSpPr>
        <p:spPr>
          <a:xfrm>
            <a:off x="5924550" y="337185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C3A68"/>
                </a:solidFill>
                <a:latin typeface="PingFang SC"/>
                <a:ea typeface="PingFang SC"/>
                <a:cs typeface="PingFang SC"/>
              </a:rPr>
              <a:t>Article Studio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E2B30B-5874-4834-A742-46056EA38393}"/>
              </a:ext>
            </a:extLst>
          </p:cNvPr>
          <p:cNvSpPr>
            <a:spLocks noGrp="1"/>
          </p:cNvSpPr>
          <p:nvPr/>
        </p:nvSpPr>
        <p:spPr>
          <a:xfrm>
            <a:off x="5924550" y="373380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Article brief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claim extraction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impact analysis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derived rule queue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567F0F-789F-4496-8E00-17B8B021EC14}"/>
              </a:ext>
            </a:extLst>
          </p:cNvPr>
          <p:cNvSpPr>
            <a:spLocks noGrp="1"/>
          </p:cNvSpPr>
          <p:nvPr/>
        </p:nvSpPr>
        <p:spPr>
          <a:xfrm>
            <a:off x="8324850" y="2571750"/>
            <a:ext cx="800100" cy="4000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6750349-D8CF-4D2B-B066-79BCC3EEDA93}"/>
              </a:ext>
            </a:extLst>
          </p:cNvPr>
          <p:cNvSpPr>
            <a:spLocks noGrp="1"/>
          </p:cNvSpPr>
          <p:nvPr/>
        </p:nvSpPr>
        <p:spPr>
          <a:xfrm>
            <a:off x="8439150" y="26670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v0.4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B0BD24-12DA-49DE-930B-6CD97F5A6867}"/>
              </a:ext>
            </a:extLst>
          </p:cNvPr>
          <p:cNvSpPr>
            <a:spLocks noGrp="1"/>
          </p:cNvSpPr>
          <p:nvPr/>
        </p:nvSpPr>
        <p:spPr>
          <a:xfrm>
            <a:off x="8153400" y="3181350"/>
            <a:ext cx="1809750" cy="14668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507EDC-670B-4772-8EE5-8BEDABC33263}"/>
              </a:ext>
            </a:extLst>
          </p:cNvPr>
          <p:cNvSpPr>
            <a:spLocks noGrp="1"/>
          </p:cNvSpPr>
          <p:nvPr/>
        </p:nvSpPr>
        <p:spPr>
          <a:xfrm>
            <a:off x="8324850" y="337185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Review Mode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464B9A-0D31-4BCD-8BF7-B0E258A41EF0}"/>
              </a:ext>
            </a:extLst>
          </p:cNvPr>
          <p:cNvSpPr>
            <a:spLocks noGrp="1"/>
          </p:cNvSpPr>
          <p:nvPr/>
        </p:nvSpPr>
        <p:spPr>
          <a:xfrm>
            <a:off x="8324850" y="373380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Review session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场景化 checklist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comments/action items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sign-off evidence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6F631F-BA2E-4171-8207-8F72F10C56BA}"/>
              </a:ext>
            </a:extLst>
          </p:cNvPr>
          <p:cNvSpPr>
            <a:spLocks noGrp="1"/>
          </p:cNvSpPr>
          <p:nvPr/>
        </p:nvSpPr>
        <p:spPr>
          <a:xfrm>
            <a:off x="10382250" y="2571750"/>
            <a:ext cx="800100" cy="400050"/>
          </a:xfrm>
          <a:prstGeom prst="rect">
            <a:avLst/>
          </a:prstGeom>
          <a:solidFill>
            <a:srgbClr val="47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DA907AD-F8A4-49EF-9BB1-D854B1A15D88}"/>
              </a:ext>
            </a:extLst>
          </p:cNvPr>
          <p:cNvSpPr>
            <a:spLocks noGrp="1"/>
          </p:cNvSpPr>
          <p:nvPr/>
        </p:nvSpPr>
        <p:spPr>
          <a:xfrm>
            <a:off x="10496550" y="266700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v1.0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7CA56F0-3B94-4F80-88FE-6E8F22F2727E}"/>
              </a:ext>
            </a:extLst>
          </p:cNvPr>
          <p:cNvSpPr>
            <a:spLocks noGrp="1"/>
          </p:cNvSpPr>
          <p:nvPr/>
        </p:nvSpPr>
        <p:spPr>
          <a:xfrm>
            <a:off x="10210800" y="3181350"/>
            <a:ext cx="1809750" cy="1466850"/>
          </a:xfrm>
          <a:prstGeom prst="rect">
            <a:avLst/>
          </a:prstGeom>
          <a:solidFill>
            <a:srgbClr val="FFFFFF"/>
          </a:solidFill>
          <a:ln w="11430">
            <a:solidFill>
              <a:srgbClr val="477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B4ABC8E-8D13-4BEE-BA58-119138864A9B}"/>
              </a:ext>
            </a:extLst>
          </p:cNvPr>
          <p:cNvSpPr>
            <a:spLocks noGrp="1"/>
          </p:cNvSpPr>
          <p:nvPr/>
        </p:nvSpPr>
        <p:spPr>
          <a:xfrm>
            <a:off x="10382250" y="337185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77A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77A5B"/>
                </a:solidFill>
                <a:latin typeface="PingFang SC"/>
                <a:ea typeface="PingFang SC"/>
                <a:cs typeface="PingFang SC"/>
              </a:rPr>
              <a:t>Enterprise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7AAECF7-F78A-4666-ADCE-BAA9EF75EA8E}"/>
              </a:ext>
            </a:extLst>
          </p:cNvPr>
          <p:cNvSpPr>
            <a:spLocks noGrp="1"/>
          </p:cNvSpPr>
          <p:nvPr/>
        </p:nvSpPr>
        <p:spPr>
          <a:xfrm>
            <a:off x="10382250" y="3733800"/>
            <a:ext cx="1466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RBAC / SSO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connectors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multi-notebook search</a:t>
            </a:r>
          </a:p>
          <a:p>
            <a:pPr algn="ctr">
              <a:def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usage analytics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28A73C8-17EF-4229-90C4-8E2BFCB3FEB7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10325100" cy="6096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47167B3-2745-47E7-AF12-85B6381451B9}"/>
              </a:ext>
            </a:extLst>
          </p:cNvPr>
          <p:cNvSpPr>
            <a:spLocks noGrp="1"/>
          </p:cNvSpPr>
          <p:nvPr/>
        </p:nvSpPr>
        <p:spPr>
          <a:xfrm>
            <a:off x="1104900" y="53911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第一个 demo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A2DD928-E924-46DC-8F21-F8553F7F91A6}"/>
              </a:ext>
            </a:extLst>
          </p:cNvPr>
          <p:cNvSpPr>
            <a:spLocks noGrp="1"/>
          </p:cNvSpPr>
          <p:nvPr/>
        </p:nvSpPr>
        <p:spPr>
          <a:xfrm>
            <a:off x="2362200" y="5353050"/>
            <a:ext cx="681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Analog IC Packaging Knowhow Notebook：历史文档 -&gt; 结构化 knowhow -&gt; 场景化查询 -&gt; checklist -&gt; 文章研究 -&gt; 候选规则 -&gt; curator 审核。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948CCD2-5419-4308-B9EA-AC863C6503E7}"/>
              </a:ext>
            </a:extLst>
          </p:cNvPr>
          <p:cNvSpPr>
            <a:spLocks noGrp="1"/>
          </p:cNvSpPr>
          <p:nvPr/>
        </p:nvSpPr>
        <p:spPr>
          <a:xfrm>
            <a:off x="9296400" y="5372100"/>
            <a:ext cx="1619250" cy="285750"/>
          </a:xfrm>
          <a:prstGeom prst="rect">
            <a:avLst/>
          </a:prstGeom>
          <a:solidFill>
            <a:srgbClr val="26354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A3E3F0-B2CB-4128-9DF6-F058805630AB}"/>
              </a:ext>
            </a:extLst>
          </p:cNvPr>
          <p:cNvSpPr>
            <a:spLocks noGrp="1"/>
          </p:cNvSpPr>
          <p:nvPr/>
        </p:nvSpPr>
        <p:spPr>
          <a:xfrm>
            <a:off x="9391650" y="54292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wirebond / low-noise AFE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E6B6697-6188-41DC-9946-1AD0F18D2448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BDE2BD-468F-4192-AB16-52EC70FEE090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A11F4C5-72D2-4180-ABB4-E4A8CAFF6895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185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F625C0C-5962-4F02-A144-D9168E289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551FF0-673A-4EDC-8B35-5494E29CFA8E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71450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0BE02F-DA40-4599-AEF5-73CEC3E407B3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1EC46B-BCFC-4ACF-9E4C-50181787EB64}"/>
              </a:ext>
            </a:extLst>
          </p:cNvPr>
          <p:cNvSpPr>
            <a:spLocks noGrp="1"/>
          </p:cNvSpPr>
          <p:nvPr/>
        </p:nvSpPr>
        <p:spPr>
          <a:xfrm>
            <a:off x="1181100" y="3714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VALUE AND MOAT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EC6EBF-7FE1-4760-B787-54396025354A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护城河来自私有 knowhow 的持续沉淀和 review 流程嵌入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F147BE-0620-4F45-8108-FD92F796E4BE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8C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2C8"/>
                </a:solidFill>
                <a:latin typeface="PingFang SC"/>
                <a:ea typeface="PingFang SC"/>
                <a:cs typeface="PingFang SC"/>
              </a:rPr>
              <a:t>产品价值不是“回答一个问题”，而是让团队的工程判断资产越用越准、越审越可信。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E234AF-35BF-4B61-83FA-00AD74247640}"/>
              </a:ext>
            </a:extLst>
          </p:cNvPr>
          <p:cNvSpPr>
            <a:spLocks noGrp="1"/>
          </p:cNvSpPr>
          <p:nvPr/>
        </p:nvSpPr>
        <p:spPr>
          <a:xfrm>
            <a:off x="990600" y="3162300"/>
            <a:ext cx="2876550" cy="10668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82E614-AB37-4931-9339-4581EA11E2EA}"/>
              </a:ext>
            </a:extLst>
          </p:cNvPr>
          <p:cNvSpPr>
            <a:spLocks noGrp="1"/>
          </p:cNvSpPr>
          <p:nvPr/>
        </p:nvSpPr>
        <p:spPr>
          <a:xfrm>
            <a:off x="1352550" y="3371850"/>
            <a:ext cx="2152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可审核</a:t>
            </a:r>
          </a:p>
          <a:p>
            <a:pPr algn="ctr">
              <a:defRPr sz="210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知识资产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34E403-7D81-468F-AAE8-A0B0990EA770}"/>
              </a:ext>
            </a:extLst>
          </p:cNvPr>
          <p:cNvSpPr>
            <a:spLocks noGrp="1"/>
          </p:cNvSpPr>
          <p:nvPr/>
        </p:nvSpPr>
        <p:spPr>
          <a:xfrm>
            <a:off x="1314450" y="3943350"/>
            <a:ext cx="226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Evidence + Scenario + Rule Status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2B1475-2C90-4EC4-8358-68EF49360E4B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1752600" cy="590550"/>
          </a:xfrm>
          <a:prstGeom prst="rect">
            <a:avLst/>
          </a:prstGeom>
          <a:solidFill>
            <a:srgbClr val="18242E"/>
          </a:solidFill>
          <a:ln w="11430">
            <a:solidFill>
              <a:srgbClr val="C85B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3EA1F0-52F8-4397-9F1B-EF9FE5F891CD}"/>
              </a:ext>
            </a:extLst>
          </p:cNvPr>
          <p:cNvSpPr>
            <a:spLocks noGrp="1"/>
          </p:cNvSpPr>
          <p:nvPr/>
        </p:nvSpPr>
        <p:spPr>
          <a:xfrm>
            <a:off x="1009650" y="2457450"/>
            <a:ext cx="144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EAF0F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0F2"/>
                </a:solidFill>
                <a:latin typeface="PingFang SC"/>
                <a:ea typeface="PingFang SC"/>
                <a:cs typeface="PingFang SC"/>
              </a:rPr>
              <a:t>内部私有 knowhow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1902E3-12DA-410E-B837-0A3CF6C83F3D}"/>
              </a:ext>
            </a:extLst>
          </p:cNvPr>
          <p:cNvSpPr>
            <a:spLocks noGrp="1"/>
          </p:cNvSpPr>
          <p:nvPr/>
        </p:nvSpPr>
        <p:spPr>
          <a:xfrm>
            <a:off x="3143250" y="2343150"/>
            <a:ext cx="1752600" cy="590550"/>
          </a:xfrm>
          <a:prstGeom prst="rect">
            <a:avLst/>
          </a:prstGeom>
          <a:solidFill>
            <a:srgbClr val="18242E"/>
          </a:solidFill>
          <a:ln w="1143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D618EA-168D-465B-A5F1-CCF41C69A8E2}"/>
              </a:ext>
            </a:extLst>
          </p:cNvPr>
          <p:cNvSpPr>
            <a:spLocks noGrp="1"/>
          </p:cNvSpPr>
          <p:nvPr/>
        </p:nvSpPr>
        <p:spPr>
          <a:xfrm>
            <a:off x="3295650" y="2495550"/>
            <a:ext cx="144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EAF0F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0F2"/>
                </a:solidFill>
                <a:latin typeface="PingFang SC"/>
                <a:ea typeface="PingFang SC"/>
                <a:cs typeface="PingFang SC"/>
              </a:rPr>
              <a:t>Rule / Case card 体系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2BB2FE-0A4C-459E-8415-434BCD288211}"/>
              </a:ext>
            </a:extLst>
          </p:cNvPr>
          <p:cNvSpPr>
            <a:spLocks noGrp="1"/>
          </p:cNvSpPr>
          <p:nvPr/>
        </p:nvSpPr>
        <p:spPr>
          <a:xfrm>
            <a:off x="3371850" y="4419600"/>
            <a:ext cx="1752600" cy="590550"/>
          </a:xfrm>
          <a:prstGeom prst="rect">
            <a:avLst/>
          </a:prstGeom>
          <a:solidFill>
            <a:srgbClr val="18242E"/>
          </a:solidFill>
          <a:ln w="1143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CF2AA0-B830-48C9-A7D6-4408ED9C6664}"/>
              </a:ext>
            </a:extLst>
          </p:cNvPr>
          <p:cNvSpPr>
            <a:spLocks noGrp="1"/>
          </p:cNvSpPr>
          <p:nvPr/>
        </p:nvSpPr>
        <p:spPr>
          <a:xfrm>
            <a:off x="3524250" y="4572000"/>
            <a:ext cx="144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EAF0F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0F2"/>
                </a:solidFill>
                <a:latin typeface="PingFang SC"/>
                <a:ea typeface="PingFang SC"/>
                <a:cs typeface="PingFang SC"/>
              </a:rPr>
              <a:t>半导体场景 ontology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595AD-9912-4F36-80E8-D4C4A8060C01}"/>
              </a:ext>
            </a:extLst>
          </p:cNvPr>
          <p:cNvSpPr>
            <a:spLocks noGrp="1"/>
          </p:cNvSpPr>
          <p:nvPr/>
        </p:nvSpPr>
        <p:spPr>
          <a:xfrm>
            <a:off x="628650" y="4438650"/>
            <a:ext cx="1752600" cy="590550"/>
          </a:xfrm>
          <a:prstGeom prst="rect">
            <a:avLst/>
          </a:prstGeom>
          <a:solidFill>
            <a:srgbClr val="18242E"/>
          </a:solidFill>
          <a:ln w="11430">
            <a:solidFill>
              <a:srgbClr val="4C3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676644-B341-4F3C-A11F-166D6273D175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144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EAF0F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AF0F2"/>
                </a:solidFill>
                <a:latin typeface="PingFang SC"/>
                <a:ea typeface="PingFang SC"/>
                <a:cs typeface="PingFang SC"/>
              </a:rPr>
              <a:t>Article Studio 规则演化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140DAB-2FEF-4E85-B103-9199C8231D09}"/>
              </a:ext>
            </a:extLst>
          </p:cNvPr>
          <p:cNvSpPr>
            <a:spLocks noGrp="1"/>
          </p:cNvSpPr>
          <p:nvPr/>
        </p:nvSpPr>
        <p:spPr>
          <a:xfrm>
            <a:off x="2476500" y="2952750"/>
            <a:ext cx="742950" cy="190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7DF381-B56C-4507-AE07-BBCA9846E41E}"/>
              </a:ext>
            </a:extLst>
          </p:cNvPr>
          <p:cNvSpPr>
            <a:spLocks noGrp="1"/>
          </p:cNvSpPr>
          <p:nvPr/>
        </p:nvSpPr>
        <p:spPr>
          <a:xfrm>
            <a:off x="2476500" y="4229100"/>
            <a:ext cx="742950" cy="19050"/>
          </a:xfrm>
          <a:prstGeom prst="rect">
            <a:avLst/>
          </a:prstGeom>
          <a:solidFill>
            <a:srgbClr val="D8D2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B54845-DB1D-4A81-920E-92CE17873E18}"/>
              </a:ext>
            </a:extLst>
          </p:cNvPr>
          <p:cNvSpPr>
            <a:spLocks noGrp="1"/>
          </p:cNvSpPr>
          <p:nvPr/>
        </p:nvSpPr>
        <p:spPr>
          <a:xfrm>
            <a:off x="5581650" y="2381250"/>
            <a:ext cx="5638800" cy="2952750"/>
          </a:xfrm>
          <a:prstGeom prst="rect">
            <a:avLst/>
          </a:prstGeom>
          <a:solidFill>
            <a:srgbClr val="1725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F801F35-25B8-4B01-8929-14C4BD50E7F8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质量与组织价值指标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F462AB-A573-4A26-80C9-E94CA0F2EFCE}"/>
              </a:ext>
            </a:extLst>
          </p:cNvPr>
          <p:cNvSpPr>
            <a:spLocks noGrp="1"/>
          </p:cNvSpPr>
          <p:nvPr/>
        </p:nvSpPr>
        <p:spPr>
          <a:xfrm>
            <a:off x="5905500" y="3067050"/>
            <a:ext cx="876300" cy="381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C85E4B-A2EF-4E87-A700-2C02D4A8589E}"/>
              </a:ext>
            </a:extLst>
          </p:cNvPr>
          <p:cNvSpPr>
            <a:spLocks noGrp="1"/>
          </p:cNvSpPr>
          <p:nvPr/>
        </p:nvSpPr>
        <p:spPr>
          <a:xfrm>
            <a:off x="5905500" y="3390900"/>
            <a:ext cx="1695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E7C7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E7C7B"/>
                </a:solidFill>
                <a:latin typeface="PingFang SC"/>
                <a:ea typeface="PingFang SC"/>
                <a:cs typeface="PingFang SC"/>
              </a:rPr>
              <a:t>检索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C4850C-58EB-4E59-935F-A971F3E1BA8C}"/>
              </a:ext>
            </a:extLst>
          </p:cNvPr>
          <p:cNvSpPr>
            <a:spLocks noGrp="1"/>
          </p:cNvSpPr>
          <p:nvPr/>
        </p:nvSpPr>
        <p:spPr>
          <a:xfrm>
            <a:off x="5905500" y="38100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正确规则召回率 / 相关案例召回率 / 引用版本准确率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A8B566-7B2A-423A-A7AE-824B5D22889C}"/>
              </a:ext>
            </a:extLst>
          </p:cNvPr>
          <p:cNvSpPr>
            <a:spLocks noGrp="1"/>
          </p:cNvSpPr>
          <p:nvPr/>
        </p:nvSpPr>
        <p:spPr>
          <a:xfrm>
            <a:off x="7715250" y="339090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回答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2B5DC5F-5121-4808-B825-F9B0BD471B3F}"/>
              </a:ext>
            </a:extLst>
          </p:cNvPr>
          <p:cNvSpPr>
            <a:spLocks noGrp="1"/>
          </p:cNvSpPr>
          <p:nvPr/>
        </p:nvSpPr>
        <p:spPr>
          <a:xfrm>
            <a:off x="7715250" y="3810000"/>
            <a:ext cx="1771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适用场景准确率 / checklist 可执行性 / 冲突识别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E5F587B-EB3B-42B8-BD32-7039822D324E}"/>
              </a:ext>
            </a:extLst>
          </p:cNvPr>
          <p:cNvSpPr>
            <a:spLocks noGrp="1"/>
          </p:cNvSpPr>
          <p:nvPr/>
        </p:nvSpPr>
        <p:spPr>
          <a:xfrm>
            <a:off x="9525000" y="339090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C85B3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C85B37"/>
                </a:solidFill>
                <a:latin typeface="PingFang SC"/>
                <a:ea typeface="PingFang SC"/>
                <a:cs typeface="PingFang SC"/>
              </a:rPr>
              <a:t>抽取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4071A5-174D-42B8-AFF5-FB085357D098}"/>
              </a:ext>
            </a:extLst>
          </p:cNvPr>
          <p:cNvSpPr>
            <a:spLocks noGrp="1"/>
          </p:cNvSpPr>
          <p:nvPr/>
        </p:nvSpPr>
        <p:spPr>
          <a:xfrm>
            <a:off x="9525000" y="38100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17D"/>
                </a:solidFill>
                <a:latin typeface="PingFang SC"/>
                <a:ea typeface="PingFang SC"/>
                <a:cs typeface="PingFang SC"/>
              </a:rPr>
              <a:t>Rule precision / Case extraction / duplicate merge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A2483EC-8186-48FC-989C-2BA0B6B15DBF}"/>
              </a:ext>
            </a:extLst>
          </p:cNvPr>
          <p:cNvSpPr>
            <a:spLocks noGrp="1"/>
          </p:cNvSpPr>
          <p:nvPr/>
        </p:nvSpPr>
        <p:spPr>
          <a:xfrm>
            <a:off x="5905500" y="4705350"/>
            <a:ext cx="4552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CE5E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5E8"/>
                </a:solidFill>
                <a:latin typeface="PingFang SC"/>
                <a:ea typeface="PingFang SC"/>
                <a:cs typeface="PingFang SC"/>
              </a:rPr>
              <a:t>组织层结果：新人查找规则时间减少，senior engineer 重复答疑减少，review checklist 生成时间减少，历史问题复发率下降。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792D41-EF2B-44E1-8CF2-45ED7B7AA9CE}"/>
              </a:ext>
            </a:extLst>
          </p:cNvPr>
          <p:cNvSpPr>
            <a:spLocks noGrp="1"/>
          </p:cNvSpPr>
          <p:nvPr/>
        </p:nvSpPr>
        <p:spPr>
          <a:xfrm>
            <a:off x="571500" y="57721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A44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最终产品定义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74BC319-6F77-4872-8478-4A4BDB7F2562}"/>
              </a:ext>
            </a:extLst>
          </p:cNvPr>
          <p:cNvSpPr>
            <a:spLocks noGrp="1"/>
          </p:cNvSpPr>
          <p:nvPr/>
        </p:nvSpPr>
        <p:spPr>
          <a:xfrm>
            <a:off x="1885950" y="5724525"/>
            <a:ext cx="746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AF0F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AF0F2"/>
                </a:solidFill>
                <a:latin typeface="PingFang SC"/>
                <a:ea typeface="PingFang SC"/>
                <a:cs typeface="PingFang SC"/>
              </a:rPr>
              <a:t>一个面向半导体研发团队的用户自建 knowhow notebook 平台，支持场景化问答、方法推荐、风险提醒、案例检索、review checklist 生成，以及基于新文章的候选规则沉淀。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946302-3561-44D7-9555-35720A3E1BB4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100965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CB0DF35-71BA-4A95-96B6-FF37CE29A775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8C2C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B8C2C8"/>
                </a:solidFill>
                <a:latin typeface="PingFang SC"/>
                <a:ea typeface="PingFang SC"/>
                <a:cs typeface="PingFang SC"/>
              </a:rPr>
              <a:t>Source: silicon_notebook_fangan.md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2CAC9A-446C-4167-AC67-6C2944141364}"/>
              </a:ext>
            </a:extLst>
          </p:cNvPr>
          <p:cNvSpPr>
            <a:spLocks noGrp="1"/>
          </p:cNvSpPr>
          <p:nvPr/>
        </p:nvSpPr>
        <p:spPr>
          <a:xfrm>
            <a:off x="11163300" y="64008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8C2C8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B8C2C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38068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</Words>
  <Application>Microsoft Macintosh PowerPoint</Application>
  <DocSecurity>0</DocSecurity>
  <PresentationFormat>宽屏</PresentationFormat>
  <Paragraphs>312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Zhifeng Hu</cp:lastModifiedBy>
  <cp:revision>1</cp:revision>
  <dcterms:created xsi:type="dcterms:W3CDTF">2026-05-28T11:52:24Z</dcterms:created>
  <dcterms:modified xsi:type="dcterms:W3CDTF">2026-05-28T12:10:29Z</dcterms:modified>
</cp:coreProperties>
</file>